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Hi everyone! Quick question first: how long did it take you to pick a board game last time? Too long, right? We built something to fix that. I am [Name A], and this is [Name B] and [Name C]. Meet the Board Game Finder — two thousand seventy-seven real games, one fun answer.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[Name A] The problem is real: hundreds of options, ratings and complexity levels — picking a game feels like a second job. So we turned the whole BoardGameGeek catalogue into one playful finder. Quick numbers: we pulled about four thousand records, cleaned them down to two thousand seventy-seven base games, and every recommendation only uses games with at least one hundred community ratings.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[Name B] Now the app itself. Tell it your table size — say two to five players, under forty-five minutes, light complexity, a decent rating. It sorts all two thousand seventy-seven games with a transparent, weighted formula, and explains every pick in plain words. No black box: you always see why a game made the list.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[Name B] Before recommending anything, we explored the data — all of it interactive in the app: most games sit around six point one, medium complexity tends to score highest, a few categories dominate, and the catalogue keeps growing. And if you already love one game? Paste it in, and it finds its family — matched on shared categories and mechanics, one pick per series, with an honest similarity score. It is similarity of features, not a promise you will like it.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[Name C] Our favourite page — the Board Game Bestiary. Answer eight quick questions and meet your beast: the City Builder, the Party Animal, the Rule Sheriff, or the Bombardier. Each beast maps to three real games from our catalogue — no imaginary picks. It is our silly, sticky way of doing recommendations. So, quick show of hands — who wants to know their beast?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[Name C] Everything you saw is Python, from the data pipeline to the models to this app — and it is open source: one script gets you from our repo to a running app. So roll the dice, meet your beast, find your game. Thank you — we would love your questions!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12" b="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508000" y="3556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8A6427"/>
                </a:solidFill>
                <a:latin typeface="Inter"/>
                <a:ea typeface="Inter"/>
                <a:cs typeface="Inter"/>
                <a:sym typeface="Inter"/>
              </a:rPr>
              <a:t>01 · THE PROBLEM &amp; THE DATA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508000" y="660400"/>
            <a:ext cx="914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6000"/>
              </a:lnSpc>
              <a:defRPr/>
            </a:pPr>
            <a:r>
              <a:rPr lang="en-US" sz="3200" b="1" i="0" u="none" strike="noStrike">
                <a:solidFill>
                  <a:srgbClr val="293027"/>
                </a:solidFill>
                <a:latin typeface="Montserrat"/>
                <a:ea typeface="Montserrat"/>
                <a:cs typeface="Montserrat"/>
                <a:sym typeface="Montserrat"/>
              </a:rPr>
              <a:t>Too many games.</a:t>
            </a:r>
            <a:endParaRPr lang="en-US" sz="1100"/>
          </a:p>
          <a:p>
            <a:pPr marL="0" indent="0" algn="l">
              <a:lnSpc>
                <a:spcPct val="96000"/>
              </a:lnSpc>
            </a:pPr>
            <a:r>
              <a:rPr lang="en-US" sz="3200" b="1" i="0" u="none" strike="noStrike">
                <a:solidFill>
                  <a:srgbClr val="293027"/>
                </a:solidFill>
                <a:latin typeface="Montserrat"/>
                <a:ea typeface="Montserrat"/>
                <a:cs typeface="Montserrat"/>
                <a:sym typeface="Montserrat"/>
              </a:rPr>
              <a:t>Too little time.</a:t>
            </a:r>
            <a:endParaRPr lang="en-US" sz="3200" b="1" i="0" u="none" strike="noStrike">
              <a:solidFill>
                <a:srgbClr val="2930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508000" y="21590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675298"/>
                </a:solidFill>
                <a:latin typeface="Inter"/>
                <a:ea typeface="Inter"/>
                <a:cs typeface="Inter"/>
                <a:sym typeface="Inter"/>
              </a:rPr>
              <a:t>~4,000 records fetched · 2,077 base games kept · every pick has ≥100 ratings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2667000"/>
            <a:ext cx="3556000" cy="3302000"/>
          </a:xfrm>
          <a:prstGeom prst="roundRect">
            <a:avLst>
              <a:gd name="adj" fmla="val 5384"/>
            </a:avLst>
          </a:prstGeom>
          <a:solidFill>
            <a:srgbClr val="FFFCF6">
              <a:alpha val="100000"/>
            </a:srgbClr>
          </a:solidFill>
          <a:ln w="12700" cap="flat" cmpd="sng">
            <a:solidFill>
              <a:srgbClr val="A94F3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 txBox="1"/>
          <p:nvPr/>
        </p:nvSpPr>
        <p:spPr>
          <a:xfrm>
            <a:off x="762000" y="2921000"/>
            <a:ext cx="304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A94F35"/>
                </a:solidFill>
                <a:latin typeface="Montserrat"/>
                <a:ea typeface="Montserrat"/>
                <a:cs typeface="Montserrat"/>
                <a:sym typeface="Montserrat"/>
              </a:rPr>
              <a:t>THE PROBLEM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762000" y="3454400"/>
            <a:ext cx="3048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50" b="0" i="0" u="none" strike="noStrike">
                <a:solidFill>
                  <a:srgbClr val="293027">
                    <a:alpha val="85098"/>
                  </a:srgbClr>
                </a:solidFill>
                <a:latin typeface="Inter"/>
                <a:ea typeface="Inter"/>
                <a:cs typeface="Inter"/>
                <a:sym typeface="Inter"/>
              </a:rPr>
              <a:t>Hundreds of options, ratings, playtimes and complexity levels. Picking a game feels like a second job.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2667000"/>
            <a:ext cx="3556000" cy="3302000"/>
          </a:xfrm>
          <a:prstGeom prst="roundRect">
            <a:avLst>
              <a:gd name="adj" fmla="val 5384"/>
            </a:avLst>
          </a:prstGeom>
          <a:solidFill>
            <a:srgbClr val="FFFCF6">
              <a:alpha val="100000"/>
            </a:srgbClr>
          </a:solidFill>
          <a:ln w="12700" cap="flat" cmpd="sng">
            <a:solidFill>
              <a:srgbClr val="67529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/>
        </p:nvSpPr>
        <p:spPr>
          <a:xfrm>
            <a:off x="4699000" y="2921000"/>
            <a:ext cx="304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75298"/>
                </a:solidFill>
                <a:latin typeface="Montserrat"/>
                <a:ea typeface="Montserrat"/>
                <a:cs typeface="Montserrat"/>
                <a:sym typeface="Montserrat"/>
              </a:rPr>
              <a:t>THE FIX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4699000" y="3454400"/>
            <a:ext cx="3048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50" b="0" i="0" u="none" strike="noStrike">
                <a:solidFill>
                  <a:srgbClr val="293027">
                    <a:alpha val="85098"/>
                  </a:srgbClr>
                </a:solidFill>
                <a:latin typeface="Inter"/>
                <a:ea typeface="Inter"/>
                <a:cs typeface="Inter"/>
                <a:sym typeface="Inter"/>
              </a:rPr>
              <a:t>One app turns the whole catalogue into plain language — tell it your table, your time and your mood.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382000" y="2667000"/>
            <a:ext cx="3556000" cy="3302000"/>
          </a:xfrm>
          <a:prstGeom prst="roundRect">
            <a:avLst>
              <a:gd name="adj" fmla="val 5384"/>
            </a:avLst>
          </a:prstGeom>
          <a:solidFill>
            <a:srgbClr val="FFFCF6">
              <a:alpha val="100000"/>
            </a:srgbClr>
          </a:solidFill>
          <a:ln w="12700" cap="flat" cmpd="sng">
            <a:solidFill>
              <a:srgbClr val="8A6427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 txBox="1"/>
          <p:nvPr/>
        </p:nvSpPr>
        <p:spPr>
          <a:xfrm>
            <a:off x="8636000" y="2921000"/>
            <a:ext cx="304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8A6427"/>
                </a:solidFill>
                <a:latin typeface="Montserrat"/>
                <a:ea typeface="Montserrat"/>
                <a:cs typeface="Montserrat"/>
                <a:sym typeface="Montserrat"/>
              </a:rPr>
              <a:t>THE DATA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8636000" y="33782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293027"/>
                </a:solidFill>
                <a:latin typeface="Montserrat"/>
                <a:ea typeface="Montserrat"/>
                <a:cs typeface="Montserrat"/>
                <a:sym typeface="Montserrat"/>
              </a:rPr>
              <a:t>2,077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8636000" y="4140200"/>
            <a:ext cx="3048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250" b="0" i="0" u="none" strike="noStrike">
                <a:solidFill>
                  <a:srgbClr val="293027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base games after cleaning</a:t>
            </a:r>
            <a:br>
              <a:rPr lang="en-US" sz="1250" b="0" i="0" u="none" strike="noStrike">
                <a:solidFill>
                  <a:srgbClr val="293027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50" b="0" i="0" u="none" strike="noStrike">
                <a:solidFill>
                  <a:srgbClr val="293027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~4,000 raw records fetched</a:t>
            </a:r>
            <a:br>
              <a:rPr lang="en-US" sz="1250" b="0" i="0" u="none" strike="noStrike">
                <a:solidFill>
                  <a:srgbClr val="293027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50" b="0" i="0" u="none" strike="noStrike">
                <a:solidFill>
                  <a:srgbClr val="293027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every pick has ≥100 ratings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508000" y="6248400"/>
            <a:ext cx="1117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93027">
                    <a:alpha val="5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Data: BoardGameGeek public XML API · expansions, re-implementations and non-games removed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508000" y="3556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8A6427"/>
                </a:solidFill>
                <a:latin typeface="Inter"/>
                <a:ea typeface="Inter"/>
                <a:cs typeface="Inter"/>
                <a:sym typeface="Inter"/>
              </a:rPr>
              <a:t>02 · FIND ME A GAME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508000" y="660400"/>
            <a:ext cx="1041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6000"/>
              </a:lnSpc>
              <a:defRPr/>
            </a:pPr>
            <a:r>
              <a:rPr lang="en-US" sz="3200" b="1" i="0" u="none" strike="noStrike">
                <a:solidFill>
                  <a:srgbClr val="293027"/>
                </a:solidFill>
                <a:latin typeface="Montserrat"/>
                <a:ea typeface="Montserrat"/>
                <a:cs typeface="Montserrat"/>
                <a:sym typeface="Montserrat"/>
              </a:rPr>
              <a:t>Tell it what you like.</a:t>
            </a:r>
            <a:endParaRPr lang="en-US" sz="1100"/>
          </a:p>
          <a:p>
            <a:pPr marL="0" indent="0" algn="l">
              <a:lnSpc>
                <a:spcPct val="96000"/>
              </a:lnSpc>
            </a:pPr>
            <a:r>
              <a:rPr lang="en-US" sz="3200" b="1" i="0" u="none" strike="noStrike">
                <a:solidFill>
                  <a:srgbClr val="293027"/>
                </a:solidFill>
                <a:latin typeface="Montserrat"/>
                <a:ea typeface="Montserrat"/>
                <a:cs typeface="Montserrat"/>
                <a:sym typeface="Montserrat"/>
              </a:rPr>
              <a:t>It answers in seconds.</a:t>
            </a:r>
            <a:endParaRPr lang="en-US" sz="3200" b="1" i="0" u="none" strike="noStrike">
              <a:solidFill>
                <a:srgbClr val="2930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08000" y="1905000"/>
            <a:ext cx="3810000" cy="3810000"/>
          </a:xfrm>
          <a:prstGeom prst="roundRect">
            <a:avLst>
              <a:gd name="adj" fmla="val 4666"/>
            </a:avLst>
          </a:prstGeom>
          <a:solidFill>
            <a:srgbClr val="FFFCF6">
              <a:alpha val="100000"/>
            </a:srgbClr>
          </a:solidFill>
          <a:ln w="12700" cap="flat" cmpd="sng">
            <a:solidFill>
              <a:srgbClr val="A94F3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 txBox="1"/>
          <p:nvPr/>
        </p:nvSpPr>
        <p:spPr>
          <a:xfrm>
            <a:off x="762000" y="2159000"/>
            <a:ext cx="304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A94F35"/>
                </a:solidFill>
                <a:latin typeface="Montserrat"/>
                <a:ea typeface="Montserrat"/>
                <a:cs typeface="Montserrat"/>
                <a:sym typeface="Montserrat"/>
              </a:rPr>
              <a:t>YOUR TABLE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717800"/>
            <a:ext cx="152400" cy="152400"/>
          </a:xfrm>
          <a:prstGeom prst="ellipse">
            <a:avLst/>
          </a:prstGeom>
          <a:solidFill>
            <a:srgbClr val="A94F3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1066800" y="2616200"/>
            <a:ext cx="279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93027"/>
                </a:solidFill>
                <a:latin typeface="Inter"/>
                <a:ea typeface="Inter"/>
                <a:cs typeface="Inter"/>
                <a:sym typeface="Inter"/>
              </a:rPr>
              <a:t>Players 2–5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762000" y="3098800"/>
            <a:ext cx="330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93027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hard constraint — must fit your table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556000"/>
            <a:ext cx="152400" cy="152400"/>
          </a:xfrm>
          <a:prstGeom prst="ellipse">
            <a:avLst/>
          </a:prstGeom>
          <a:solidFill>
            <a:srgbClr val="67529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 txBox="1"/>
          <p:nvPr/>
        </p:nvSpPr>
        <p:spPr>
          <a:xfrm>
            <a:off x="1066800" y="3454400"/>
            <a:ext cx="279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93027"/>
                </a:solidFill>
                <a:latin typeface="Inter"/>
                <a:ea typeface="Inter"/>
                <a:cs typeface="Inter"/>
                <a:sym typeface="Inter"/>
              </a:rPr>
              <a:t>Playtime ≤ 45 min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762000" y="3937000"/>
            <a:ext cx="330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93027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switch between preferred and maximum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394200"/>
            <a:ext cx="152400" cy="152400"/>
          </a:xfrm>
          <a:prstGeom prst="ellipse">
            <a:avLst/>
          </a:prstGeom>
          <a:solidFill>
            <a:srgbClr val="4664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1066800" y="4292600"/>
            <a:ext cx="279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93027"/>
                </a:solidFill>
                <a:latin typeface="Inter"/>
                <a:ea typeface="Inter"/>
                <a:cs typeface="Inter"/>
                <a:sym typeface="Inter"/>
              </a:rPr>
              <a:t>Complexity light–medium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762000" y="4775200"/>
            <a:ext cx="330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93027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set a hard ceiling if you want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105400"/>
            <a:ext cx="152400" cy="152400"/>
          </a:xfrm>
          <a:prstGeom prst="ellipse">
            <a:avLst/>
          </a:prstGeom>
          <a:solidFill>
            <a:srgbClr val="8A642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 txBox="1"/>
          <p:nvPr/>
        </p:nvSpPr>
        <p:spPr>
          <a:xfrm>
            <a:off x="1066800" y="5003800"/>
            <a:ext cx="279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93027"/>
                </a:solidFill>
                <a:latin typeface="Inter"/>
                <a:ea typeface="Inter"/>
                <a:cs typeface="Inter"/>
                <a:sym typeface="Inter"/>
              </a:rPr>
              <a:t>Quality rating ≥ 7.0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762000" y="5384800"/>
            <a:ext cx="330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93027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only games with ≥100 BGG ratings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826000" y="1905000"/>
            <a:ext cx="6858000" cy="3810000"/>
          </a:xfrm>
          <a:prstGeom prst="roundRect">
            <a:avLst>
              <a:gd name="adj" fmla="val 4666"/>
            </a:avLst>
          </a:prstGeom>
          <a:solidFill>
            <a:srgbClr val="FFFCF6">
              <a:alpha val="100000"/>
            </a:srgbClr>
          </a:solidFill>
          <a:ln w="12700" cap="flat" cmpd="sng">
            <a:solidFill>
              <a:srgbClr val="67529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 txBox="1"/>
          <p:nvPr/>
        </p:nvSpPr>
        <p:spPr>
          <a:xfrm>
            <a:off x="5080000" y="2159000"/>
            <a:ext cx="635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75298"/>
                </a:solidFill>
                <a:latin typeface="Inter"/>
                <a:ea typeface="Inter"/>
                <a:cs typeface="Inter"/>
                <a:sym typeface="Inter"/>
              </a:rPr>
              <a:t>EXAMPLE MATCH · TOP PICK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5080000" y="25400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93027"/>
                </a:solidFill>
                <a:latin typeface="Montserrat"/>
                <a:ea typeface="Montserrat"/>
                <a:cs typeface="Montserrat"/>
                <a:sym typeface="Montserrat"/>
              </a:rPr>
              <a:t>Ticket to Ride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5080000" y="3200400"/>
            <a:ext cx="6350000" cy="121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50" b="0" i="0" u="none" strike="noStrike">
                <a:solidFill>
                  <a:srgbClr val="293027">
                    <a:alpha val="85098"/>
                  </a:srgbClr>
                </a:solidFill>
                <a:latin typeface="Inter"/>
                <a:ea typeface="Inter"/>
                <a:cs typeface="Inter"/>
                <a:sym typeface="Inter"/>
              </a:rPr>
              <a:t>Fits your table: plays 2–5.</a:t>
            </a:r>
            <a:br>
              <a:rPr lang="en-US" sz="1350" b="0" i="0" u="none" strike="noStrike">
                <a:solidFill>
                  <a:srgbClr val="293027">
                    <a:alpha val="85098"/>
                  </a:srgbClr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350" b="0" i="0" u="none" strike="noStrike">
                <a:solidFill>
                  <a:srgbClr val="293027">
                    <a:alpha val="85098"/>
                  </a:srgbClr>
                </a:solidFill>
                <a:latin typeface="Inter"/>
                <a:ea typeface="Inter"/>
                <a:cs typeface="Inter"/>
                <a:sym typeface="Inter"/>
              </a:rPr>
              <a:t>Runs about 45 minutes — right in your window.</a:t>
            </a:r>
            <a:br>
              <a:rPr lang="en-US" sz="1350" b="0" i="0" u="none" strike="noStrike">
                <a:solidFill>
                  <a:srgbClr val="293027">
                    <a:alpha val="85098"/>
                  </a:srgbClr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350" b="0" i="0" u="none" strike="noStrike">
                <a:solidFill>
                  <a:srgbClr val="293027">
                    <a:alpha val="85098"/>
                  </a:srgbClr>
                </a:solidFill>
                <a:latin typeface="Inter"/>
                <a:ea typeface="Inter"/>
                <a:cs typeface="Inter"/>
                <a:sym typeface="Inter"/>
              </a:rPr>
              <a:t>Light complexity, easy to teach first-timers.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080000" y="4572000"/>
            <a:ext cx="1371600" cy="431800"/>
          </a:xfrm>
          <a:prstGeom prst="roundRect">
            <a:avLst>
              <a:gd name="adj" fmla="val 23529"/>
            </a:avLst>
          </a:prstGeom>
          <a:solidFill>
            <a:srgbClr val="A94F35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 txBox="1"/>
          <p:nvPr/>
        </p:nvSpPr>
        <p:spPr>
          <a:xfrm>
            <a:off x="5232400" y="4673600"/>
            <a:ext cx="1117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A94F35"/>
                </a:solidFill>
                <a:latin typeface="Inter"/>
                <a:ea typeface="Inter"/>
                <a:cs typeface="Inter"/>
                <a:sym typeface="Inter"/>
              </a:rPr>
              <a:t>2–5 PLAYERS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553200" y="4572000"/>
            <a:ext cx="1219200" cy="431800"/>
          </a:xfrm>
          <a:prstGeom prst="roundRect">
            <a:avLst>
              <a:gd name="adj" fmla="val 23529"/>
            </a:avLst>
          </a:prstGeom>
          <a:solidFill>
            <a:srgbClr val="675298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 txBox="1"/>
          <p:nvPr/>
        </p:nvSpPr>
        <p:spPr>
          <a:xfrm>
            <a:off x="6705600" y="4673600"/>
            <a:ext cx="914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675298"/>
                </a:solidFill>
                <a:latin typeface="Inter"/>
                <a:ea typeface="Inter"/>
                <a:cs typeface="Inter"/>
                <a:sym typeface="Inter"/>
              </a:rPr>
              <a:t>~45 MIN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874000" y="4572000"/>
            <a:ext cx="1524000" cy="431800"/>
          </a:xfrm>
          <a:prstGeom prst="roundRect">
            <a:avLst>
              <a:gd name="adj" fmla="val 23529"/>
            </a:avLst>
          </a:prstGeom>
          <a:solidFill>
            <a:srgbClr val="466449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 txBox="1"/>
          <p:nvPr/>
        </p:nvSpPr>
        <p:spPr>
          <a:xfrm>
            <a:off x="7975600" y="4673600"/>
            <a:ext cx="1320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466449"/>
                </a:solidFill>
                <a:latin typeface="Inter"/>
                <a:ea typeface="Inter"/>
                <a:cs typeface="Inter"/>
                <a:sym typeface="Inter"/>
              </a:rPr>
              <a:t>COMPLEXITY 1.9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499600" y="4572000"/>
            <a:ext cx="1219200" cy="431800"/>
          </a:xfrm>
          <a:prstGeom prst="roundRect">
            <a:avLst>
              <a:gd name="adj" fmla="val 23529"/>
            </a:avLst>
          </a:prstGeom>
          <a:solidFill>
            <a:srgbClr val="8A6427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 txBox="1"/>
          <p:nvPr/>
        </p:nvSpPr>
        <p:spPr>
          <a:xfrm>
            <a:off x="9652000" y="4673600"/>
            <a:ext cx="914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8A6427"/>
                </a:solidFill>
                <a:latin typeface="Inter"/>
                <a:ea typeface="Inter"/>
                <a:cs typeface="Inter"/>
                <a:sym typeface="Inter"/>
              </a:rPr>
              <a:t>RATING 7.4</a:t>
            </a:r>
            <a:endParaRPr lang="en-US" sz="1100"/>
          </a:p>
        </p:txBody>
      </p:sp>
      <p:sp>
        <p:nvSpPr>
          <p:cNvPr id="30" name="AutoShape 30"/>
          <p:cNvSpPr txBox="1"/>
          <p:nvPr/>
        </p:nvSpPr>
        <p:spPr>
          <a:xfrm>
            <a:off x="5080000" y="5257800"/>
            <a:ext cx="635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293027">
                    <a:alpha val="5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score = 0.35·players + 0.20·time + 0.20·complexity + 0.25·rating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508000" y="3556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8A6427"/>
                </a:solidFill>
                <a:latin typeface="Inter"/>
                <a:ea typeface="Inter"/>
                <a:cs typeface="Inter"/>
                <a:sym typeface="Inter"/>
              </a:rPr>
              <a:t>03 · EXPLORE &amp; SIMILAR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508000" y="660400"/>
            <a:ext cx="1117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6000"/>
              </a:lnSpc>
              <a:defRPr/>
            </a:pPr>
            <a:r>
              <a:rPr lang="en-US" sz="3200" b="1" i="0" u="none" strike="noStrike">
                <a:solidFill>
                  <a:srgbClr val="293027"/>
                </a:solidFill>
                <a:latin typeface="Montserrat"/>
                <a:ea typeface="Montserrat"/>
                <a:cs typeface="Montserrat"/>
                <a:sym typeface="Montserrat"/>
              </a:rPr>
              <a:t>Not just a finder —</a:t>
            </a:r>
            <a:endParaRPr lang="en-US" sz="1100"/>
          </a:p>
          <a:p>
            <a:pPr marL="0" indent="0" algn="l">
              <a:lnSpc>
                <a:spcPct val="96000"/>
              </a:lnSpc>
            </a:pPr>
            <a:r>
              <a:rPr lang="en-US" sz="3200" b="1" i="0" u="none" strike="noStrike">
                <a:solidFill>
                  <a:srgbClr val="293027"/>
                </a:solidFill>
                <a:latin typeface="Montserrat"/>
                <a:ea typeface="Montserrat"/>
                <a:cs typeface="Montserrat"/>
                <a:sym typeface="Montserrat"/>
              </a:rPr>
              <a:t>data and doppelgangers.</a:t>
            </a:r>
            <a:endParaRPr lang="en-US" sz="3200" b="1" i="0" u="none" strike="noStrike">
              <a:solidFill>
                <a:srgbClr val="2930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08000" y="2159000"/>
            <a:ext cx="5588000" cy="3810000"/>
          </a:xfrm>
          <a:prstGeom prst="roundRect">
            <a:avLst>
              <a:gd name="adj" fmla="val 4666"/>
            </a:avLst>
          </a:prstGeom>
          <a:solidFill>
            <a:srgbClr val="FFFCF6">
              <a:alpha val="100000"/>
            </a:srgbClr>
          </a:solidFill>
          <a:ln w="12700" cap="flat" cmpd="sng">
            <a:solidFill>
              <a:srgbClr val="46644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 txBox="1"/>
          <p:nvPr/>
        </p:nvSpPr>
        <p:spPr>
          <a:xfrm>
            <a:off x="762000" y="2413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66449"/>
                </a:solidFill>
                <a:latin typeface="Montserrat"/>
                <a:ea typeface="Montserrat"/>
                <a:cs typeface="Montserrat"/>
                <a:sym typeface="Montserrat"/>
              </a:rPr>
              <a:t>EXPLORE · INTERACTIVE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971800"/>
            <a:ext cx="152400" cy="152400"/>
          </a:xfrm>
          <a:prstGeom prst="ellipse">
            <a:avLst/>
          </a:prstGeom>
          <a:solidFill>
            <a:srgbClr val="4664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1066800" y="28448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93027">
                    <a:alpha val="85098"/>
                  </a:srgbClr>
                </a:solidFill>
                <a:latin typeface="Inter"/>
                <a:ea typeface="Inter"/>
                <a:cs typeface="Inter"/>
                <a:sym typeface="Inter"/>
              </a:rPr>
              <a:t>Median rating </a:t>
            </a:r>
            <a:r>
              <a:rPr lang="en-US" sz="1300" b="1" i="0" u="none" strike="noStrike">
                <a:solidFill>
                  <a:srgbClr val="293027">
                    <a:alpha val="85098"/>
                  </a:srgbClr>
                </a:solidFill>
                <a:latin typeface="Inter"/>
                <a:ea typeface="Inter"/>
                <a:cs typeface="Inter"/>
                <a:sym typeface="Inter"/>
              </a:rPr>
              <a:t>6.1</a:t>
            </a:r>
            <a:r>
              <a:rPr lang="en-US" sz="1300" b="0" i="0" u="none" strike="noStrike">
                <a:solidFill>
                  <a:srgbClr val="293027">
                    <a:alpha val="85098"/>
                  </a:srgbClr>
                </a:solidFill>
                <a:latin typeface="Inter"/>
                <a:ea typeface="Inter"/>
                <a:cs typeface="Inter"/>
                <a:sym typeface="Inter"/>
              </a:rPr>
              <a:t> — most games sit 5.5–7.5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606800"/>
            <a:ext cx="152400" cy="152400"/>
          </a:xfrm>
          <a:prstGeom prst="ellipse">
            <a:avLst/>
          </a:prstGeom>
          <a:solidFill>
            <a:srgbClr val="4664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/>
        </p:nvSpPr>
        <p:spPr>
          <a:xfrm>
            <a:off x="1066800" y="34798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93027">
                    <a:alpha val="85098"/>
                  </a:srgbClr>
                </a:solidFill>
                <a:latin typeface="Inter"/>
                <a:ea typeface="Inter"/>
                <a:cs typeface="Inter"/>
                <a:sym typeface="Inter"/>
              </a:rPr>
              <a:t>Complexity sweet spot — medium-weight scores highest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241800"/>
            <a:ext cx="152400" cy="152400"/>
          </a:xfrm>
          <a:prstGeom prst="ellipse">
            <a:avLst/>
          </a:prstGeom>
          <a:solidFill>
            <a:srgbClr val="4664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1066800" y="41148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93027">
                    <a:alpha val="85098"/>
                  </a:srgbClr>
                </a:solidFill>
                <a:latin typeface="Inter"/>
                <a:ea typeface="Inter"/>
                <a:cs typeface="Inter"/>
                <a:sym typeface="Inter"/>
              </a:rPr>
              <a:t>Top categories — card, family and party games lead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876800"/>
            <a:ext cx="152400" cy="152400"/>
          </a:xfrm>
          <a:prstGeom prst="ellipse">
            <a:avLst/>
          </a:prstGeom>
          <a:solidFill>
            <a:srgbClr val="4664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1066800" y="47498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93027">
                    <a:alpha val="85098"/>
                  </a:srgbClr>
                </a:solidFill>
                <a:latin typeface="Inter"/>
                <a:ea typeface="Inter"/>
                <a:cs typeface="Inter"/>
                <a:sym typeface="Inter"/>
              </a:rPr>
              <a:t>Catalogue growth — more choice every decade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762000" y="54102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293027">
                    <a:alpha val="5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All five charts are interactive in the app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2159000"/>
            <a:ext cx="5588000" cy="3810000"/>
          </a:xfrm>
          <a:prstGeom prst="roundRect">
            <a:avLst>
              <a:gd name="adj" fmla="val 4666"/>
            </a:avLst>
          </a:prstGeom>
          <a:solidFill>
            <a:srgbClr val="FFFCF6">
              <a:alpha val="100000"/>
            </a:srgbClr>
          </a:solidFill>
          <a:ln w="12700" cap="flat" cmpd="sng">
            <a:solidFill>
              <a:srgbClr val="67529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 txBox="1"/>
          <p:nvPr/>
        </p:nvSpPr>
        <p:spPr>
          <a:xfrm>
            <a:off x="6604000" y="2413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675298"/>
                </a:solidFill>
                <a:latin typeface="Montserrat"/>
                <a:ea typeface="Montserrat"/>
                <a:cs typeface="Montserrat"/>
                <a:sym typeface="Montserrat"/>
              </a:rPr>
              <a:t>SIMILAR GAMES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6604000" y="2844800"/>
            <a:ext cx="508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93027"/>
                </a:solidFill>
                <a:latin typeface="Montserrat"/>
                <a:ea typeface="Montserrat"/>
                <a:cs typeface="Montserrat"/>
                <a:sym typeface="Montserrat"/>
              </a:rPr>
              <a:t>Love one game? Find its family.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6604000" y="33274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93027">
                    <a:alpha val="7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Paste it in — get its closest cousins.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6604000" y="3759200"/>
            <a:ext cx="508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300" b="1" i="0" u="none" strike="noStrike">
                <a:solidFill>
                  <a:srgbClr val="293027">
                    <a:alpha val="85098"/>
                  </a:srgbClr>
                </a:solidFill>
                <a:latin typeface="Inter"/>
                <a:ea typeface="Inter"/>
                <a:cs typeface="Inter"/>
                <a:sym typeface="Inter"/>
              </a:rPr>
              <a:t>01 · Real signals</a:t>
            </a:r>
            <a:r>
              <a:rPr lang="en-US" sz="1300" b="0" i="0" u="none" strike="noStrike">
                <a:solidFill>
                  <a:srgbClr val="293027">
                    <a:alpha val="85098"/>
                  </a:srgbClr>
                </a:solidFill>
                <a:latin typeface="Inter"/>
                <a:ea typeface="Inter"/>
                <a:cs typeface="Inter"/>
                <a:sym typeface="Inter"/>
              </a:rPr>
              <a:t> — shared categories and mechanics, not vibes</a:t>
            </a:r>
            <a:br>
              <a:rPr lang="en-US" sz="1300" b="0" i="0" u="none" strike="noStrike">
                <a:solidFill>
                  <a:srgbClr val="293027">
                    <a:alpha val="85098"/>
                  </a:srgbClr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300" b="1" i="0" u="none" strike="noStrike">
                <a:solidFill>
                  <a:srgbClr val="293027">
                    <a:alpha val="85098"/>
                  </a:srgbClr>
                </a:solidFill>
                <a:latin typeface="Inter"/>
                <a:ea typeface="Inter"/>
                <a:cs typeface="Inter"/>
                <a:sym typeface="Inter"/>
              </a:rPr>
              <a:t>02 · One pick per series</a:t>
            </a:r>
            <a:r>
              <a:rPr lang="en-US" sz="1300" b="0" i="0" u="none" strike="noStrike">
                <a:solidFill>
                  <a:srgbClr val="293027">
                    <a:alpha val="85098"/>
                  </a:srgbClr>
                </a:solidFill>
                <a:latin typeface="Inter"/>
                <a:ea typeface="Inter"/>
                <a:cs typeface="Inter"/>
                <a:sym typeface="Inter"/>
              </a:rPr>
              <a:t> — no five versions of the same game</a:t>
            </a:r>
            <a:br>
              <a:rPr lang="en-US" sz="1300" b="0" i="0" u="none" strike="noStrike">
                <a:solidFill>
                  <a:srgbClr val="293027">
                    <a:alpha val="85098"/>
                  </a:srgbClr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300" b="1" i="0" u="none" strike="noStrike">
                <a:solidFill>
                  <a:srgbClr val="293027">
                    <a:alpha val="85098"/>
                  </a:srgbClr>
                </a:solidFill>
                <a:latin typeface="Inter"/>
                <a:ea typeface="Inter"/>
                <a:cs typeface="Inter"/>
                <a:sym typeface="Inter"/>
              </a:rPr>
              <a:t>03 · Honest score</a:t>
            </a:r>
            <a:r>
              <a:rPr lang="en-US" sz="1300" b="0" i="0" u="none" strike="noStrike">
                <a:solidFill>
                  <a:srgbClr val="293027">
                    <a:alpha val="85098"/>
                  </a:srgbClr>
                </a:solidFill>
                <a:latin typeface="Inter"/>
                <a:ea typeface="Inter"/>
                <a:cs typeface="Inter"/>
                <a:sym typeface="Inter"/>
              </a:rPr>
              <a:t> — similarity of features, not a promise you will like it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6604000" y="54610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293027">
                    <a:alpha val="5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Example: paste Catan → get family-style strategy picks, not reprints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508000" y="3556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8A6427"/>
                </a:solidFill>
                <a:latin typeface="Inter"/>
                <a:ea typeface="Inter"/>
                <a:cs typeface="Inter"/>
                <a:sym typeface="Inter"/>
              </a:rPr>
              <a:t>04 · BOARD GAME BESTIARY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508000" y="660400"/>
            <a:ext cx="914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6000"/>
              </a:lnSpc>
              <a:defRPr/>
            </a:pPr>
            <a:r>
              <a:rPr lang="en-US" sz="3200" b="1" i="0" u="none" strike="noStrike">
                <a:solidFill>
                  <a:srgbClr val="293027"/>
                </a:solidFill>
                <a:latin typeface="Montserrat"/>
                <a:ea typeface="Montserrat"/>
                <a:cs typeface="Montserrat"/>
                <a:sym typeface="Montserrat"/>
              </a:rPr>
              <a:t>Not a quiz —</a:t>
            </a:r>
            <a:endParaRPr lang="en-US" sz="1100"/>
          </a:p>
          <a:p>
            <a:pPr marL="0" indent="0" algn="l">
              <a:lnSpc>
                <a:spcPct val="96000"/>
              </a:lnSpc>
            </a:pPr>
            <a:r>
              <a:rPr lang="en-US" sz="3200" b="1" i="0" u="none" strike="noStrike">
                <a:solidFill>
                  <a:srgbClr val="293027"/>
                </a:solidFill>
                <a:latin typeface="Montserrat"/>
                <a:ea typeface="Montserrat"/>
                <a:cs typeface="Montserrat"/>
                <a:sym typeface="Montserrat"/>
              </a:rPr>
              <a:t>a personality test for board gamers.</a:t>
            </a:r>
            <a:endParaRPr lang="en-US" sz="3200" b="1" i="0" u="none" strike="noStrike">
              <a:solidFill>
                <a:srgbClr val="29302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508000" y="2133600"/>
            <a:ext cx="965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675298"/>
                </a:solidFill>
                <a:latin typeface="Inter"/>
                <a:ea typeface="Inter"/>
                <a:cs typeface="Inter"/>
                <a:sym typeface="Inter"/>
              </a:rPr>
              <a:t>8 quick questions · meet your beast · get 3 real game picks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968500" y="2540000"/>
            <a:ext cx="1778000" cy="177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127500" y="2540000"/>
            <a:ext cx="1778000" cy="177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86500" y="2540000"/>
            <a:ext cx="1778000" cy="177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445500" y="2540000"/>
            <a:ext cx="1778000" cy="177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 txBox="1"/>
          <p:nvPr/>
        </p:nvSpPr>
        <p:spPr>
          <a:xfrm>
            <a:off x="2032000" y="45212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A94F35"/>
                </a:solidFill>
                <a:latin typeface="Inter"/>
                <a:ea typeface="Inter"/>
                <a:cs typeface="Inter"/>
                <a:sym typeface="Inter"/>
              </a:rPr>
              <a:t>The City Builder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4191000" y="45212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675298"/>
                </a:solidFill>
                <a:latin typeface="Inter"/>
                <a:ea typeface="Inter"/>
                <a:cs typeface="Inter"/>
                <a:sym typeface="Inter"/>
              </a:rPr>
              <a:t>The Party Animal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6350000" y="45212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466449"/>
                </a:solidFill>
                <a:latin typeface="Inter"/>
                <a:ea typeface="Inter"/>
                <a:cs typeface="Inter"/>
                <a:sym typeface="Inter"/>
              </a:rPr>
              <a:t>The Rule Sheriff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8509000" y="45212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8A6427"/>
                </a:solidFill>
                <a:latin typeface="Inter"/>
                <a:ea typeface="Inter"/>
                <a:cs typeface="Inter"/>
                <a:sym typeface="Inter"/>
              </a:rPr>
              <a:t>The Bombardier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270000" y="5207000"/>
            <a:ext cx="9652000" cy="889000"/>
          </a:xfrm>
          <a:prstGeom prst="roundRect">
            <a:avLst>
              <a:gd name="adj" fmla="val 20000"/>
            </a:avLst>
          </a:prstGeom>
          <a:solidFill>
            <a:srgbClr val="FFFCF6">
              <a:alpha val="100000"/>
            </a:srgbClr>
          </a:solidFill>
          <a:ln w="12700" cap="flat" cmpd="sng">
            <a:solidFill>
              <a:srgbClr val="A94F3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 txBox="1"/>
          <p:nvPr/>
        </p:nvSpPr>
        <p:spPr>
          <a:xfrm>
            <a:off x="1524000" y="5384800"/>
            <a:ext cx="914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50" b="0" i="0" u="none" strike="noStrike">
                <a:solidFill>
                  <a:srgbClr val="293027">
                    <a:alpha val="85098"/>
                  </a:srgbClr>
                </a:solidFill>
                <a:latin typeface="Inter"/>
                <a:ea typeface="Inter"/>
                <a:cs typeface="Inter"/>
                <a:sym typeface="Inter"/>
              </a:rPr>
              <a:t>Each beast maps to three real games from our 2,077 — no imaginary picks.</a:t>
            </a:r>
            <a:br>
              <a:rPr lang="en-US" sz="1350" b="0" i="0" u="none" strike="noStrike">
                <a:solidFill>
                  <a:srgbClr val="293027">
                    <a:alpha val="85098"/>
                  </a:srgbClr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350" b="0" i="0" u="none" strike="noStrike">
                <a:solidFill>
                  <a:srgbClr val="293027">
                    <a:alpha val="85098"/>
                  </a:srgbClr>
                </a:solidFill>
                <a:latin typeface="Inter"/>
                <a:ea typeface="Inter"/>
                <a:cs typeface="Inter"/>
                <a:sym typeface="Inter"/>
              </a:rPr>
              <a:t>It is our silly, sticky way to do recommendations.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524500" y="838200"/>
            <a:ext cx="11430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 txBox="1"/>
          <p:nvPr/>
        </p:nvSpPr>
        <p:spPr>
          <a:xfrm>
            <a:off x="2032000" y="2108200"/>
            <a:ext cx="812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96000"/>
              </a:lnSpc>
              <a:defRPr/>
            </a:pPr>
            <a:r>
              <a:rPr lang="en-US" sz="3400" b="1" i="0" u="none" strike="noStrike">
                <a:solidFill>
                  <a:srgbClr val="A94F35"/>
                </a:solidFill>
                <a:latin typeface="Montserrat"/>
                <a:ea typeface="Montserrat"/>
                <a:cs typeface="Montserrat"/>
                <a:sym typeface="Montserrat"/>
              </a:rPr>
              <a:t>Roll the dice.</a:t>
            </a:r>
            <a:endParaRPr lang="en-US" sz="1100"/>
          </a:p>
          <a:p>
            <a:pPr marL="0" indent="0" algn="ctr">
              <a:lnSpc>
                <a:spcPct val="96000"/>
              </a:lnSpc>
            </a:pPr>
            <a:r>
              <a:rPr lang="en-US" sz="3400" b="1" i="0" u="none" strike="noStrike">
                <a:solidFill>
                  <a:srgbClr val="A94F35"/>
                </a:solidFill>
                <a:latin typeface="Montserrat"/>
                <a:ea typeface="Montserrat"/>
                <a:cs typeface="Montserrat"/>
                <a:sym typeface="Montserrat"/>
              </a:rPr>
              <a:t>Meet your beast.</a:t>
            </a:r>
            <a:endParaRPr lang="en-US" sz="3400" b="1" i="0" u="none" strike="noStrike">
              <a:solidFill>
                <a:srgbClr val="A94F3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indent="0" algn="ctr">
              <a:lnSpc>
                <a:spcPct val="96000"/>
              </a:lnSpc>
            </a:pPr>
            <a:r>
              <a:rPr lang="en-US" sz="3400" b="1" i="0" u="none" strike="noStrike">
                <a:solidFill>
                  <a:srgbClr val="A94F35"/>
                </a:solidFill>
                <a:latin typeface="Montserrat"/>
                <a:ea typeface="Montserrat"/>
                <a:cs typeface="Montserrat"/>
                <a:sym typeface="Montserrat"/>
              </a:rPr>
              <a:t>Find your game.</a:t>
            </a:r>
            <a:endParaRPr lang="en-US" sz="3400" b="1" i="0" u="none" strike="noStrike">
              <a:solidFill>
                <a:srgbClr val="A94F3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2286000" y="37592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93027"/>
                </a:solidFill>
                <a:latin typeface="Inter"/>
                <a:ea typeface="Inter"/>
                <a:cs typeface="Inter"/>
                <a:sym typeface="Inter"/>
              </a:rPr>
              <a:t>Try it live · the code is open source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2286000" y="42418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675298"/>
                </a:solidFill>
                <a:latin typeface="Inter"/>
                <a:ea typeface="Inter"/>
                <a:cs typeface="Inter"/>
                <a:sym typeface="Inter"/>
              </a:rPr>
              <a:t>github.com/your-team/board-game-finder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2286000" y="47244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93027">
                    <a:alpha val="65098"/>
                  </a:srgbClr>
                </a:solidFill>
                <a:latin typeface="Inter"/>
                <a:ea typeface="Inter"/>
                <a:cs typeface="Inter"/>
                <a:sym typeface="Inter"/>
              </a:rPr>
              <a:t>100% Python — cleaning, machine learning and this app · one script from repo to running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2286000" y="5740400"/>
            <a:ext cx="762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293027">
                    <a:alpha val="85098"/>
                  </a:srgbClr>
                </a:solidFill>
                <a:latin typeface="Inter"/>
                <a:ea typeface="Inter"/>
                <a:cs typeface="Inter"/>
                <a:sym typeface="Inter"/>
              </a:rPr>
              <a:t>Thank you — we would love your questions!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2304</Words>
  <Application>WPS 演示</Application>
  <PresentationFormat/>
  <Paragraphs>118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23" baseType="lpstr">
      <vt:lpstr>Arial</vt:lpstr>
      <vt:lpstr>宋体</vt:lpstr>
      <vt:lpstr>Wingdings</vt:lpstr>
      <vt:lpstr>Arial</vt:lpstr>
      <vt:lpstr>Montserrat</vt:lpstr>
      <vt:lpstr>Thonburi</vt:lpstr>
      <vt:lpstr>Inter</vt:lpstr>
      <vt:lpstr>微软雅黑</vt:lpstr>
      <vt:lpstr>方正雅意黑 GB18030L2</vt:lpstr>
      <vt:lpstr>宋体</vt:lpstr>
      <vt:lpstr>Arial Unicode MS</vt:lpstr>
      <vt:lpstr>汉仪书宋二KW</vt:lpstr>
      <vt:lpstr>Inter</vt:lpstr>
      <vt:lpstr>Montserrat</vt:lpstr>
      <vt:lpstr>苹方-简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hhong</cp:lastModifiedBy>
  <cp:revision>1</cp:revision>
  <dcterms:created xsi:type="dcterms:W3CDTF">2026-10-11T17:19:28Z</dcterms:created>
  <dcterms:modified xsi:type="dcterms:W3CDTF">2026-10-11T17:19:28Z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{"Label":"1","ContentProducer":"001191110102MACQD9K64010000","ProduceID":"7694004352302927107","ReservedCode1":"","ContentPropagator":"","PropagateID":"","ReservedCode2":""}</vt:lpwstr>
  </property>
  <property fmtid="{D5CDD505-2E9C-101B-9397-08002B2CF9AE}" pid="3" name="ICV">
    <vt:lpwstr>9B90DC573820597720C5CB6AE638FCCC_43</vt:lpwstr>
  </property>
  <property fmtid="{D5CDD505-2E9C-101B-9397-08002B2CF9AE}" pid="4" name="KSOProductBuildVer">
    <vt:lpwstr>2052-12.1.26055.26055</vt:lpwstr>
  </property>
</Properties>
</file>