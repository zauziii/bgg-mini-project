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/>
        </p:txBody>
      </p:sp>
      <p:sp>
        <p:nvSpPr>
          <p:cNvPr id="2" name="Subtitle"/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/>
      <p:sp>
        <p:nvSpPr>
          <p:cNvPr id="2" name="Section title"/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/>
        </p:txBody>
      </p:sp>
      <p:sp>
        <p:nvSpPr>
          <p:cNvPr id="2" name="Body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/>
      <p:sp>
        <p:nvSpPr>
          <p:cNvPr id="4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/>
        </p:txBody>
      </p:sp>
      <p:sp>
        <p:nvSpPr>
          <p:cNvPr id="3" name="Right column"/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0E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742950" y="2114550"/>
            <a:ext cx="5810250" cy="1647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4800" b="1">
                <a:solidFill>
                  <a:srgbClr val="352D26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defPPr>
          </a:lstStyle>
          <a:p>
            <a:pPr>
              <a:defRPr sz="4800" b="1">
                <a:solidFill>
                  <a:srgbClr val="352D26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pPr>
            <a:r>
              <a:rPr sz="4800" b="0">
                <a:solidFill>
                  <a:srgbClr val="352D26"/>
                </a:solidFill>
                <a:latin typeface="Arial" panose="020B0604020202090204" pitchFamily="34" charset="0"/>
                <a:ea typeface="Avenir Next" panose="020B0803020202020204"/>
                <a:cs typeface="Arial" panose="020B0604020202090204" pitchFamily="34" charset="0"/>
              </a:rPr>
              <a:t>BOARD GAME</a:t>
            </a:r>
            <a:endParaRPr sz="4800" b="0">
              <a:solidFill>
                <a:srgbClr val="352D26"/>
              </a:solidFill>
              <a:latin typeface="Arial" panose="020B0604020202090204" pitchFamily="34" charset="0"/>
              <a:ea typeface="Avenir Next" panose="020B0803020202020204"/>
              <a:cs typeface="Arial" panose="020B0604020202090204" pitchFamily="34" charset="0"/>
            </a:endParaRPr>
          </a:p>
          <a:p>
            <a:pPr>
              <a:defRPr sz="4800" b="1">
                <a:solidFill>
                  <a:srgbClr val="352D26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pPr>
            <a:r>
              <a:rPr sz="4800" b="0">
                <a:solidFill>
                  <a:srgbClr val="352D26"/>
                </a:solidFill>
                <a:latin typeface="Arial" panose="020B0604020202090204" pitchFamily="34" charset="0"/>
                <a:ea typeface="Avenir Next" panose="020B0803020202020204"/>
                <a:cs typeface="Arial" panose="020B0604020202090204" pitchFamily="34" charset="0"/>
              </a:rPr>
              <a:t>FINDER</a:t>
            </a:r>
            <a:endParaRPr sz="4800" b="0">
              <a:solidFill>
                <a:srgbClr val="352D26"/>
              </a:solidFill>
              <a:latin typeface="Arial" panose="020B0604020202090204" pitchFamily="34" charset="0"/>
              <a:ea typeface="Avenir Next" panose="020B0803020202020204"/>
              <a:cs typeface="Arial" panose="020B0604020202090204" pitchFamily="34" charset="0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781050" y="4191000"/>
            <a:ext cx="5524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100" b="0">
                <a:solidFill>
                  <a:srgbClr val="5A4E42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defPPr>
          </a:lstStyle>
          <a:p>
            <a:pPr>
              <a:defRPr sz="2100" b="0">
                <a:solidFill>
                  <a:srgbClr val="5A4E42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pPr>
            <a:r>
              <a:rPr sz="2100" i="1">
                <a:solidFill>
                  <a:srgbClr val="5A4E42"/>
                </a:solidFill>
                <a:latin typeface="Arial" panose="020B0604020202090204" pitchFamily="34" charset="0"/>
                <a:ea typeface="Avenir Next" panose="020B0803020202020204"/>
                <a:cs typeface="Arial" panose="020B0604020202090204" pitchFamily="34" charset="0"/>
              </a:rPr>
              <a:t>Find the right game for tonight.</a:t>
            </a:r>
            <a:endParaRPr sz="2100" i="1">
              <a:solidFill>
                <a:srgbClr val="5A4E42"/>
              </a:solidFill>
              <a:latin typeface="Arial" panose="020B0604020202090204" pitchFamily="34" charset="0"/>
              <a:ea typeface="Avenir Next" panose="020B0803020202020204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0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2" name="矩形 11"/>
          <p:cNvSpPr>
            <a:spLocks noGrp="1"/>
          </p:cNvSpPr>
          <p:nvPr/>
        </p:nvSpPr>
        <p:spPr>
          <a:xfrm>
            <a:off x="723900" y="485775"/>
            <a:ext cx="581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1">
                <a:solidFill>
                  <a:srgbClr val="AD6B36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defPPr>
          </a:lstStyle>
          <a:p>
            <a:pPr>
              <a:defRPr sz="1125" b="1">
                <a:solidFill>
                  <a:srgbClr val="AD6B36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pPr>
            <a:r>
              <a:rPr sz="1125" b="1">
                <a:solidFill>
                  <a:srgbClr val="AD6B36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rPr>
              <a:t>BOARD GAME FINDER  /  THE IDEA</a:t>
            </a:r>
            <a:endParaRPr sz="1125" b="1">
              <a:solidFill>
                <a:srgbClr val="AD6B36"/>
              </a:solidFill>
              <a:latin typeface="Avenir Next" panose="020B0803020202020204"/>
              <a:ea typeface="Avenir Next" panose="020B0803020202020204"/>
              <a:cs typeface="Avenir Next" panose="020B0803020202020204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714375" y="990600"/>
            <a:ext cx="10382250" cy="139827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4425" b="1">
                <a:solidFill>
                  <a:srgbClr val="352D26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defPPr>
          </a:lstStyle>
          <a:p>
            <a:pPr>
              <a:defRPr sz="4425" b="1">
                <a:solidFill>
                  <a:srgbClr val="352D26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pPr>
            <a:r>
              <a:rPr sz="4000" b="0">
                <a:solidFill>
                  <a:srgbClr val="352D26"/>
                </a:solidFill>
                <a:latin typeface="Arial" panose="020B0604020202090204" pitchFamily="34" charset="0"/>
                <a:ea typeface="Avenir Next" panose="020B0803020202020204"/>
                <a:cs typeface="Arial" panose="020B0604020202090204" pitchFamily="34" charset="0"/>
              </a:rPr>
              <a:t>Turn winter nights</a:t>
            </a:r>
            <a:endParaRPr sz="4000" b="0">
              <a:solidFill>
                <a:srgbClr val="352D26"/>
              </a:solidFill>
              <a:latin typeface="Arial" panose="020B0604020202090204" pitchFamily="34" charset="0"/>
              <a:ea typeface="Avenir Next" panose="020B0803020202020204"/>
              <a:cs typeface="Arial" panose="020B0604020202090204" pitchFamily="34" charset="0"/>
            </a:endParaRPr>
          </a:p>
          <a:p>
            <a:pPr>
              <a:defRPr sz="4425" b="1">
                <a:solidFill>
                  <a:srgbClr val="352D26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pPr>
            <a:r>
              <a:rPr sz="4000" b="0">
                <a:solidFill>
                  <a:srgbClr val="352D26"/>
                </a:solidFill>
                <a:latin typeface="Arial" panose="020B0604020202090204" pitchFamily="34" charset="0"/>
                <a:ea typeface="Avenir Next" panose="020B0803020202020204"/>
                <a:cs typeface="Arial" panose="020B0604020202090204" pitchFamily="34" charset="0"/>
              </a:rPr>
              <a:t>into game nights.</a:t>
            </a:r>
            <a:endParaRPr sz="4000" b="0">
              <a:solidFill>
                <a:srgbClr val="352D26"/>
              </a:solidFill>
              <a:latin typeface="Arial" panose="020B0604020202090204" pitchFamily="34" charset="0"/>
              <a:ea typeface="Avenir Next" panose="020B0803020202020204"/>
              <a:cs typeface="Arial" panose="020B0604020202090204" pitchFamily="34" charset="0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742950" y="2388870"/>
            <a:ext cx="1014412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175" b="0">
                <a:solidFill>
                  <a:srgbClr val="5A4E42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defPPr>
          </a:lstStyle>
          <a:p>
            <a:pPr>
              <a:defRPr sz="2175" b="0">
                <a:solidFill>
                  <a:srgbClr val="5A4E42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pPr>
            <a:r>
              <a:rPr sz="2000" b="0" i="1">
                <a:solidFill>
                  <a:srgbClr val="5A4E42"/>
                </a:solidFill>
                <a:latin typeface="Arial" panose="020B0604020202090204" pitchFamily="34" charset="0"/>
                <a:ea typeface="Avenir Next" panose="020B0803020202020204"/>
                <a:cs typeface="Arial" panose="020B0604020202090204" pitchFamily="34" charset="0"/>
              </a:rPr>
              <a:t>We help people in Finland find the right board game for solo play or an evening with friends.</a:t>
            </a:r>
            <a:endParaRPr sz="2000" b="0" i="1">
              <a:solidFill>
                <a:srgbClr val="5A4E42"/>
              </a:solidFill>
              <a:latin typeface="Arial" panose="020B0604020202090204" pitchFamily="34" charset="0"/>
              <a:ea typeface="Avenir Next" panose="020B0803020202020204"/>
              <a:cs typeface="Arial" panose="020B0604020202090204" pitchFamily="34" charset="0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23570" y="3811905"/>
            <a:ext cx="10668000" cy="19050"/>
          </a:xfrm>
          <a:prstGeom prst="rect">
            <a:avLst/>
          </a:prstGeom>
          <a:solidFill>
            <a:srgbClr val="D9C9B5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742950" y="4010025"/>
            <a:ext cx="457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 b="1">
                <a:solidFill>
                  <a:srgbClr val="AD6B36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defPPr>
          </a:lstStyle>
          <a:p>
            <a:pPr>
              <a:defRPr sz="1200" b="1">
                <a:solidFill>
                  <a:srgbClr val="AD6B36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pPr>
            <a:r>
              <a:rPr sz="1200" b="1">
                <a:solidFill>
                  <a:srgbClr val="AD6B36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rPr>
              <a:t>THE STANDSTILL</a:t>
            </a:r>
            <a:endParaRPr sz="1200" b="1">
              <a:solidFill>
                <a:srgbClr val="AD6B36"/>
              </a:solidFill>
              <a:latin typeface="Avenir Next" panose="020B0803020202020204"/>
              <a:ea typeface="Avenir Next" panose="020B0803020202020204"/>
              <a:cs typeface="Avenir Next" panose="020B0803020202020204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742950" y="4364990"/>
            <a:ext cx="46672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325" b="1">
                <a:solidFill>
                  <a:srgbClr val="352D26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defPPr>
          </a:lstStyle>
          <a:p>
            <a:pPr>
              <a:defRPr sz="2325" b="1">
                <a:solidFill>
                  <a:srgbClr val="352D26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pPr>
            <a:r>
              <a:rPr sz="2325" b="1">
                <a:solidFill>
                  <a:srgbClr val="352D26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rPr>
              <a:t>Too many options. No clear pick.</a:t>
            </a:r>
            <a:endParaRPr sz="2325" b="1">
              <a:solidFill>
                <a:srgbClr val="352D26"/>
              </a:solidFill>
              <a:latin typeface="Avenir Next" panose="020B0803020202020204"/>
              <a:ea typeface="Avenir Next" panose="020B0803020202020204"/>
              <a:cs typeface="Avenir Next" panose="020B0803020202020204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62000" y="5215255"/>
            <a:ext cx="4714875" cy="790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 b="0">
                <a:solidFill>
                  <a:srgbClr val="6E6255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defPPr>
          </a:lstStyle>
          <a:p>
            <a:pPr>
              <a:defRPr sz="1575" b="0">
                <a:solidFill>
                  <a:srgbClr val="6E6255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pPr>
            <a:r>
              <a:rPr sz="1575" b="0">
                <a:solidFill>
                  <a:srgbClr val="6E6255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rPr>
              <a:t>Alone or with friends, choosing what to play can take longer than the game itself.</a:t>
            </a:r>
            <a:endParaRPr sz="1575" b="0">
              <a:solidFill>
                <a:srgbClr val="6E6255"/>
              </a:solidFill>
              <a:latin typeface="Avenir Next" panose="020B0803020202020204"/>
              <a:ea typeface="Avenir Next" panose="020B0803020202020204"/>
              <a:cs typeface="Avenir Next" panose="020B0803020202020204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5943600" y="3838575"/>
            <a:ext cx="19050" cy="1819275"/>
          </a:xfrm>
          <a:prstGeom prst="rect">
            <a:avLst/>
          </a:prstGeom>
          <a:solidFill>
            <a:srgbClr val="D9C9B5"/>
          </a:solidFill>
          <a:ln w="0">
            <a:noFill/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6429375" y="3982085"/>
            <a:ext cx="457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 b="1">
                <a:solidFill>
                  <a:srgbClr val="AD6B36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defPPr>
          </a:lstStyle>
          <a:p>
            <a:pPr>
              <a:defRPr sz="1200" b="1">
                <a:solidFill>
                  <a:srgbClr val="AD6B36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pPr>
            <a:r>
              <a:rPr sz="1200" b="1">
                <a:solidFill>
                  <a:srgbClr val="AD6B36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rPr>
              <a:t>THE WAY FORWARD</a:t>
            </a:r>
            <a:endParaRPr sz="1200" b="1">
              <a:solidFill>
                <a:srgbClr val="AD6B36"/>
              </a:solidFill>
              <a:latin typeface="Avenir Next" panose="020B0803020202020204"/>
              <a:ea typeface="Avenir Next" panose="020B0803020202020204"/>
              <a:cs typeface="Avenir Next" panose="020B0803020202020204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454775" y="4295775"/>
            <a:ext cx="45720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325" b="1">
                <a:solidFill>
                  <a:srgbClr val="352D26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defPPr>
          </a:lstStyle>
          <a:p>
            <a:pPr>
              <a:defRPr sz="2325" b="1">
                <a:solidFill>
                  <a:srgbClr val="352D26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pPr>
            <a:r>
              <a:rPr sz="2325" b="1">
                <a:solidFill>
                  <a:srgbClr val="352D26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rPr>
              <a:t>A game that fits tonight.</a:t>
            </a:r>
            <a:endParaRPr sz="2325" b="1">
              <a:solidFill>
                <a:srgbClr val="352D26"/>
              </a:solidFill>
              <a:latin typeface="Avenir Next" panose="020B0803020202020204"/>
              <a:ea typeface="Avenir Next" panose="020B0803020202020204"/>
              <a:cs typeface="Avenir Next" panose="020B0803020202020204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429375" y="5220335"/>
            <a:ext cx="4762500" cy="790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 b="0">
                <a:solidFill>
                  <a:srgbClr val="6E6255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defPPr>
          </a:lstStyle>
          <a:p>
            <a:pPr>
              <a:defRPr sz="1575" b="0">
                <a:solidFill>
                  <a:srgbClr val="6E6255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pPr>
            <a:r>
              <a:rPr sz="1575" b="0">
                <a:solidFill>
                  <a:srgbClr val="6E6255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rPr>
              <a:t>Choose players, time and complexity—or discover games similar to one you already love.</a:t>
            </a:r>
            <a:endParaRPr sz="1575" b="0">
              <a:solidFill>
                <a:srgbClr val="6E6255"/>
              </a:solidFill>
              <a:latin typeface="Avenir Next" panose="020B0803020202020204"/>
              <a:ea typeface="Avenir Next" panose="020B0803020202020204"/>
              <a:cs typeface="Avenir Next" panose="020B080302020202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7D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" name="矩形 19"/>
          <p:cNvSpPr>
            <a:spLocks noGrp="1"/>
          </p:cNvSpPr>
          <p:nvPr/>
        </p:nvSpPr>
        <p:spPr>
          <a:xfrm>
            <a:off x="723900" y="485775"/>
            <a:ext cx="619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1">
                <a:solidFill>
                  <a:srgbClr val="AD6B36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defPPr>
          </a:lstStyle>
          <a:p>
            <a:pPr>
              <a:defRPr sz="1125" b="1">
                <a:solidFill>
                  <a:srgbClr val="AD6B36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pPr>
            <a:r>
              <a:rPr sz="1125" b="1">
                <a:solidFill>
                  <a:srgbClr val="AD6B36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rPr>
              <a:t>BOARD GAME FINDER  /  YOUR NEXT MOVE</a:t>
            </a:r>
            <a:endParaRPr sz="1125" b="1">
              <a:solidFill>
                <a:srgbClr val="AD6B36"/>
              </a:solidFill>
              <a:latin typeface="Avenir Next" panose="020B0803020202020204"/>
              <a:ea typeface="Avenir Next" panose="020B0803020202020204"/>
              <a:cs typeface="Avenir Next" panose="020B0803020202020204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714375" y="962025"/>
            <a:ext cx="10477500" cy="790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4050" b="1">
                <a:solidFill>
                  <a:srgbClr val="352D26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defPPr>
          </a:lstStyle>
          <a:p>
            <a:pPr>
              <a:defRPr sz="4050" b="1">
                <a:solidFill>
                  <a:srgbClr val="352D26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pPr>
            <a:r>
              <a:rPr sz="4050" b="1">
                <a:solidFill>
                  <a:srgbClr val="352D26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rPr>
              <a:t>From deciding to playing.</a:t>
            </a:r>
            <a:endParaRPr sz="4050" b="1">
              <a:solidFill>
                <a:srgbClr val="352D26"/>
              </a:solidFill>
              <a:latin typeface="Avenir Next" panose="020B0803020202020204"/>
              <a:ea typeface="Avenir Next" panose="020B0803020202020204"/>
              <a:cs typeface="Avenir Next" panose="020B0803020202020204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752475" y="1876425"/>
            <a:ext cx="10477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0">
                <a:solidFill>
                  <a:srgbClr val="5A4E42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defPPr>
          </a:lstStyle>
          <a:p>
            <a:pPr>
              <a:defRPr sz="1950" b="0">
                <a:solidFill>
                  <a:srgbClr val="5A4E42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pPr>
            <a:r>
              <a:rPr sz="1950" b="0">
                <a:solidFill>
                  <a:srgbClr val="5A4E42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rPr>
              <a:t>A smarter way to find the game that belongs at your table tonight.</a:t>
            </a:r>
            <a:endParaRPr sz="1950" b="0">
              <a:solidFill>
                <a:srgbClr val="5A4E42"/>
              </a:solidFill>
              <a:latin typeface="Avenir Next" panose="020B0803020202020204"/>
              <a:ea typeface="Avenir Next" panose="020B0803020202020204"/>
              <a:cs typeface="Avenir Next" panose="020B0803020202020204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971550" y="3181350"/>
            <a:ext cx="10048875" cy="19050"/>
          </a:xfrm>
          <a:prstGeom prst="rect">
            <a:avLst/>
          </a:prstGeom>
          <a:solidFill>
            <a:srgbClr val="D9C9B5"/>
          </a:solidFill>
          <a:ln w="0">
            <a:noFill/>
            <a:prstDash val="solid"/>
          </a:ln>
        </p:spPr>
      </p:sp>
      <p:sp>
        <p:nvSpPr>
          <p:cNvPr id="5" name="椭圆 4"/>
          <p:cNvSpPr>
            <a:spLocks noGrp="1"/>
          </p:cNvSpPr>
          <p:nvPr/>
        </p:nvSpPr>
        <p:spPr>
          <a:xfrm>
            <a:off x="971550" y="3076575"/>
            <a:ext cx="228600" cy="228600"/>
          </a:xfrm>
          <a:prstGeom prst="ellipse">
            <a:avLst/>
          </a:prstGeom>
          <a:solidFill>
            <a:srgbClr val="AD6B36"/>
          </a:solidFill>
          <a:ln w="0">
            <a:noFill/>
            <a:prstDash val="solid"/>
          </a:ln>
        </p:spPr>
      </p:sp>
      <p:sp>
        <p:nvSpPr>
          <p:cNvPr id="6" name="椭圆 5"/>
          <p:cNvSpPr>
            <a:spLocks noGrp="1"/>
          </p:cNvSpPr>
          <p:nvPr/>
        </p:nvSpPr>
        <p:spPr>
          <a:xfrm>
            <a:off x="4772025" y="3076575"/>
            <a:ext cx="228600" cy="228600"/>
          </a:xfrm>
          <a:prstGeom prst="ellipse">
            <a:avLst/>
          </a:prstGeom>
          <a:solidFill>
            <a:srgbClr val="AD6B36"/>
          </a:solidFill>
          <a:ln w="0">
            <a:noFill/>
            <a:prstDash val="solid"/>
          </a:ln>
        </p:spPr>
      </p:sp>
      <p:sp>
        <p:nvSpPr>
          <p:cNvPr id="7" name="椭圆 6"/>
          <p:cNvSpPr>
            <a:spLocks noGrp="1"/>
          </p:cNvSpPr>
          <p:nvPr/>
        </p:nvSpPr>
        <p:spPr>
          <a:xfrm>
            <a:off x="8572500" y="3076575"/>
            <a:ext cx="228600" cy="228600"/>
          </a:xfrm>
          <a:prstGeom prst="ellipse">
            <a:avLst/>
          </a:prstGeom>
          <a:solidFill>
            <a:srgbClr val="AD6B36"/>
          </a:solidFill>
          <a:ln w="0">
            <a:noFill/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752475" y="2686050"/>
            <a:ext cx="9144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650" b="1">
                <a:solidFill>
                  <a:srgbClr val="AD6B36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defPPr>
          </a:lstStyle>
          <a:p>
            <a:pPr>
              <a:defRPr sz="1650" b="1">
                <a:solidFill>
                  <a:srgbClr val="AD6B36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pPr>
            <a:r>
              <a:rPr sz="1650" b="1">
                <a:solidFill>
                  <a:srgbClr val="AD6B36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rPr>
              <a:t>01</a:t>
            </a:r>
            <a:endParaRPr sz="1650" b="1">
              <a:solidFill>
                <a:srgbClr val="AD6B36"/>
              </a:solidFill>
              <a:latin typeface="Avenir Next" panose="020B0803020202020204"/>
              <a:ea typeface="Avenir Next" panose="020B0803020202020204"/>
              <a:cs typeface="Avenir Next" panose="020B0803020202020204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4552950" y="2686050"/>
            <a:ext cx="9144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650" b="1">
                <a:solidFill>
                  <a:srgbClr val="AD6B36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defPPr>
          </a:lstStyle>
          <a:p>
            <a:pPr>
              <a:defRPr sz="1650" b="1">
                <a:solidFill>
                  <a:srgbClr val="AD6B36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pPr>
            <a:r>
              <a:rPr sz="1650" b="1">
                <a:solidFill>
                  <a:srgbClr val="AD6B36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rPr>
              <a:t>02</a:t>
            </a:r>
            <a:endParaRPr sz="1650" b="1">
              <a:solidFill>
                <a:srgbClr val="AD6B36"/>
              </a:solidFill>
              <a:latin typeface="Avenir Next" panose="020B0803020202020204"/>
              <a:ea typeface="Avenir Next" panose="020B0803020202020204"/>
              <a:cs typeface="Avenir Next" panose="020B0803020202020204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8353425" y="2686050"/>
            <a:ext cx="9144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650" b="1">
                <a:solidFill>
                  <a:srgbClr val="AD6B36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defPPr>
          </a:lstStyle>
          <a:p>
            <a:pPr>
              <a:defRPr sz="1650" b="1">
                <a:solidFill>
                  <a:srgbClr val="AD6B36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pPr>
            <a:r>
              <a:rPr sz="1650" b="1">
                <a:solidFill>
                  <a:srgbClr val="AD6B36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rPr>
              <a:t>03</a:t>
            </a:r>
            <a:endParaRPr sz="1650" b="1">
              <a:solidFill>
                <a:srgbClr val="AD6B36"/>
              </a:solidFill>
              <a:latin typeface="Avenir Next" panose="020B0803020202020204"/>
              <a:ea typeface="Avenir Next" panose="020B0803020202020204"/>
              <a:cs typeface="Avenir Next" panose="020B0803020202020204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742950" y="3524250"/>
            <a:ext cx="3238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175" b="1">
                <a:solidFill>
                  <a:srgbClr val="352D26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defPPr>
          </a:lstStyle>
          <a:p>
            <a:pPr>
              <a:defRPr sz="2175" b="1">
                <a:solidFill>
                  <a:srgbClr val="352D26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pPr>
            <a:r>
              <a:rPr sz="2175" b="1">
                <a:solidFill>
                  <a:srgbClr val="352D26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rPr>
              <a:t>Match the moment</a:t>
            </a:r>
            <a:endParaRPr sz="2175" b="1">
              <a:solidFill>
                <a:srgbClr val="352D26"/>
              </a:solidFill>
              <a:latin typeface="Avenir Next" panose="020B0803020202020204"/>
              <a:ea typeface="Avenir Next" panose="020B0803020202020204"/>
              <a:cs typeface="Avenir Next" panose="020B0803020202020204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742950" y="4191000"/>
            <a:ext cx="30861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725" b="0">
                <a:solidFill>
                  <a:srgbClr val="6E6255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defPPr>
          </a:lstStyle>
          <a:p>
            <a:pPr>
              <a:defRPr sz="1725" b="0">
                <a:solidFill>
                  <a:srgbClr val="6E6255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pPr>
            <a:r>
              <a:rPr sz="1725" b="0">
                <a:solidFill>
                  <a:srgbClr val="6E6255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rPr>
              <a:t>Pick your player count, time and complexity.</a:t>
            </a:r>
            <a:endParaRPr sz="1725" b="0">
              <a:solidFill>
                <a:srgbClr val="6E6255"/>
              </a:solidFill>
              <a:latin typeface="Avenir Next" panose="020B0803020202020204"/>
              <a:ea typeface="Avenir Next" panose="020B0803020202020204"/>
              <a:cs typeface="Avenir Next" panose="020B0803020202020204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4543425" y="3524250"/>
            <a:ext cx="3476625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175" b="1">
                <a:solidFill>
                  <a:srgbClr val="352D26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defPPr>
          </a:lstStyle>
          <a:p>
            <a:pPr>
              <a:defRPr sz="2175" b="1">
                <a:solidFill>
                  <a:srgbClr val="352D26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pPr>
            <a:r>
              <a:rPr sz="2175" b="1">
                <a:solidFill>
                  <a:srgbClr val="352D26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rPr>
              <a:t>Thoughtful by design</a:t>
            </a:r>
            <a:endParaRPr sz="2175" b="1">
              <a:solidFill>
                <a:srgbClr val="352D26"/>
              </a:solidFill>
              <a:latin typeface="Avenir Next" panose="020B0803020202020204"/>
              <a:ea typeface="Avenir Next" panose="020B0803020202020204"/>
              <a:cs typeface="Avenir Next" panose="020B0803020202020204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4543425" y="4191000"/>
            <a:ext cx="3219450" cy="1571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 b="0">
                <a:solidFill>
                  <a:srgbClr val="6E6255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defPPr>
          </a:lstStyle>
          <a:p>
            <a:pPr>
              <a:defRPr sz="1575" b="0">
                <a:solidFill>
                  <a:srgbClr val="6E6255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pPr>
            <a:r>
              <a:rPr sz="1575" b="0">
                <a:solidFill>
                  <a:srgbClr val="6E6255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rPr>
              <a:t>Clear matches from 2,077 BGG games, each with 100+ ratings. </a:t>
            </a:r>
            <a:endParaRPr sz="1575" b="0">
              <a:solidFill>
                <a:srgbClr val="6E6255"/>
              </a:solidFill>
              <a:latin typeface="Avenir Next" panose="020B0803020202020204"/>
              <a:ea typeface="Avenir Next" panose="020B0803020202020204"/>
              <a:cs typeface="Avenir Next" panose="020B0803020202020204"/>
            </a:endParaRPr>
          </a:p>
          <a:p>
            <a:pPr>
              <a:defRPr sz="1575" b="0">
                <a:solidFill>
                  <a:srgbClr val="6E6255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pPr>
            <a:endParaRPr sz="1575" b="0">
              <a:solidFill>
                <a:srgbClr val="6E6255"/>
              </a:solidFill>
              <a:latin typeface="Avenir Next" panose="020B0803020202020204"/>
              <a:ea typeface="Avenir Next" panose="020B0803020202020204"/>
              <a:cs typeface="Avenir Next" panose="020B0803020202020204"/>
            </a:endParaRPr>
          </a:p>
          <a:p>
            <a:pPr>
              <a:defRPr sz="1575" b="0">
                <a:solidFill>
                  <a:srgbClr val="6E6255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pPr>
            <a:r>
              <a:rPr sz="1575" b="0">
                <a:solidFill>
                  <a:srgbClr val="6E6255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rPr>
              <a:t>A sun-warmed palette brings a little brightness to winter evenings.</a:t>
            </a:r>
            <a:endParaRPr sz="1575" b="0">
              <a:solidFill>
                <a:srgbClr val="6E6255"/>
              </a:solidFill>
              <a:latin typeface="Avenir Next" panose="020B0803020202020204"/>
              <a:ea typeface="Avenir Next" panose="020B0803020202020204"/>
              <a:cs typeface="Avenir Next" panose="020B0803020202020204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8343900" y="3524250"/>
            <a:ext cx="3238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175" b="1">
                <a:solidFill>
                  <a:srgbClr val="352D26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defPPr>
          </a:lstStyle>
          <a:p>
            <a:pPr>
              <a:defRPr sz="2175" b="1">
                <a:solidFill>
                  <a:srgbClr val="352D26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pPr>
            <a:r>
              <a:rPr sz="2175" b="1">
                <a:solidFill>
                  <a:srgbClr val="352D26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rPr>
              <a:t>Start the night</a:t>
            </a:r>
            <a:endParaRPr sz="2175" b="1">
              <a:solidFill>
                <a:srgbClr val="352D26"/>
              </a:solidFill>
              <a:latin typeface="Avenir Next" panose="020B0803020202020204"/>
              <a:ea typeface="Avenir Next" panose="020B0803020202020204"/>
              <a:cs typeface="Avenir Next" panose="020B0803020202020204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8343900" y="4191000"/>
            <a:ext cx="31242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725" b="0">
                <a:solidFill>
                  <a:srgbClr val="6E6255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defPPr>
          </a:lstStyle>
          <a:p>
            <a:pPr>
              <a:defRPr sz="1725" b="0">
                <a:solidFill>
                  <a:srgbClr val="6E6255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pPr>
            <a:r>
              <a:rPr sz="1725" b="0">
                <a:solidFill>
                  <a:srgbClr val="6E6255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rPr>
              <a:t>Winter is </a:t>
            </a:r>
            <a:r>
              <a:rPr lang="en-US" sz="1725" b="0">
                <a:solidFill>
                  <a:srgbClr val="6E6255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rPr>
              <a:t>coming</a:t>
            </a:r>
            <a:r>
              <a:rPr sz="1725" b="0">
                <a:solidFill>
                  <a:srgbClr val="6E6255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rPr>
              <a:t>. Find your game and get playing.</a:t>
            </a:r>
            <a:endParaRPr sz="1725" b="0">
              <a:solidFill>
                <a:srgbClr val="6E6255"/>
              </a:solidFill>
              <a:latin typeface="Avenir Next" panose="020B0803020202020204"/>
              <a:ea typeface="Avenir Next" panose="020B0803020202020204"/>
              <a:cs typeface="Avenir Next" panose="020B0803020202020204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742950" y="5972175"/>
            <a:ext cx="10668000" cy="19050"/>
          </a:xfrm>
          <a:prstGeom prst="rect">
            <a:avLst/>
          </a:prstGeom>
          <a:solidFill>
            <a:srgbClr val="D9C9B5"/>
          </a:solidFill>
          <a:ln w="0">
            <a:noFill/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742950" y="6219825"/>
            <a:ext cx="3333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00" b="1">
                <a:solidFill>
                  <a:srgbClr val="AD6B36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defPPr>
          </a:lstStyle>
          <a:p>
            <a:pPr>
              <a:defRPr sz="1500" b="1">
                <a:solidFill>
                  <a:srgbClr val="AD6B36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pPr>
            <a:r>
              <a:rPr sz="1500" b="1">
                <a:solidFill>
                  <a:srgbClr val="AD6B36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rPr>
              <a:t>FIND YOUR GAME</a:t>
            </a:r>
            <a:endParaRPr sz="1500" b="1">
              <a:solidFill>
                <a:srgbClr val="AD6B36"/>
              </a:solidFill>
              <a:latin typeface="Avenir Next" panose="020B0803020202020204"/>
              <a:ea typeface="Avenir Next" panose="020B0803020202020204"/>
              <a:cs typeface="Avenir Next" panose="020B0803020202020204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7248525" y="6219825"/>
            <a:ext cx="4191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350" b="0">
                <a:solidFill>
                  <a:srgbClr val="5A4E42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defPPr>
          </a:lstStyle>
          <a:p>
            <a:pPr>
              <a:defRPr sz="1350" b="0">
                <a:solidFill>
                  <a:srgbClr val="5A4E42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pPr>
            <a:r>
              <a:rPr sz="1350" b="0">
                <a:solidFill>
                  <a:srgbClr val="5A4E42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rPr>
              <a:t>bgg-mini-project.streamlit.app/find</a:t>
            </a:r>
            <a:endParaRPr sz="1350" b="0">
              <a:solidFill>
                <a:srgbClr val="5A4E42"/>
              </a:solidFill>
              <a:latin typeface="Avenir Next" panose="020B0803020202020204"/>
              <a:ea typeface="Avenir Next" panose="020B0803020202020204"/>
              <a:cs typeface="Avenir Next" panose="020B080302020202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913</Words>
  <Application>WPS 演示</Application>
  <PresentationFormat>Converted Presentation</PresentationFormat>
  <Paragraphs>54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27" baseType="lpstr">
      <vt:lpstr>Arial</vt:lpstr>
      <vt:lpstr>宋体</vt:lpstr>
      <vt:lpstr>Wingdings</vt:lpstr>
      <vt:lpstr>Avenir Next</vt:lpstr>
      <vt:lpstr>微软雅黑</vt:lpstr>
      <vt:lpstr>方正雅意黑 GB18030L2</vt:lpstr>
      <vt:lpstr>宋体</vt:lpstr>
      <vt:lpstr>Arial Unicode MS</vt:lpstr>
      <vt:lpstr>汉仪书宋二KW</vt:lpstr>
      <vt:lpstr>Aptos</vt:lpstr>
      <vt:lpstr>Helvetica Neue</vt:lpstr>
      <vt:lpstr>Calibri</vt:lpstr>
      <vt:lpstr>Avenir Next</vt:lpstr>
      <vt:lpstr>PingFang SC</vt:lpstr>
      <vt:lpstr>Apple SD Gothic Neo</vt:lpstr>
      <vt:lpstr>Xingkai TC Light</vt:lpstr>
      <vt:lpstr>Yuanti TC</vt:lpstr>
      <vt:lpstr>Al Bayan Plain</vt:lpstr>
      <vt:lpstr>Al Nile</vt:lpstr>
      <vt:lpstr>American Typewriter</vt:lpstr>
      <vt:lpstr>Apple Braille Outline 6 Dot</vt:lpstr>
      <vt:lpstr>Apple Symbols</vt:lpstr>
      <vt:lpstr>Yuanti SC</vt:lpstr>
      <vt:lpstr>ChatGPT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hhong</cp:lastModifiedBy>
  <cp:revision>4</cp:revision>
  <dcterms:created xsi:type="dcterms:W3CDTF">2026-10-11T18:42:17Z</dcterms:created>
  <dcterms:modified xsi:type="dcterms:W3CDTF">2026-10-11T18:42:17Z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6C979D50B24BE69C94D7CB6A8D773945_42</vt:lpwstr>
  </property>
  <property fmtid="{D5CDD505-2E9C-101B-9397-08002B2CF9AE}" pid="3" name="KSOProductBuildVer">
    <vt:lpwstr>2052-12.1.26055.26055</vt:lpwstr>
  </property>
</Properties>
</file>