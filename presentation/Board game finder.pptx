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31" r:id="rId3"/>
    <p:sldId id="345" r:id="rId4"/>
    <p:sldId id="361" r:id="rId5"/>
    <p:sldId id="357" r:id="rId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926" userDrawn="1">
          <p15:clr>
            <a:srgbClr val="A4A3A4"/>
          </p15:clr>
        </p15:guide>
        <p15:guide id="2" orient="horz" pos="2622" userDrawn="1">
          <p15:clr>
            <a:srgbClr val="A4A3A4"/>
          </p15:clr>
        </p15:guide>
        <p15:guide id="3" orient="horz" pos="2150" userDrawn="1">
          <p15:clr>
            <a:srgbClr val="A4A3A4"/>
          </p15:clr>
        </p15:guide>
        <p15:guide id="4" pos="5556" userDrawn="1">
          <p15:clr>
            <a:srgbClr val="A4A3A4"/>
          </p15:clr>
        </p15:guide>
        <p15:guide id="5" pos="18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DFD"/>
    <a:srgbClr val="FFFFFF"/>
    <a:srgbClr val="F7AC80"/>
    <a:srgbClr val="343843"/>
    <a:srgbClr val="E9AF31"/>
    <a:srgbClr val="9495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456" y="91"/>
      </p:cViewPr>
      <p:guideLst>
        <p:guide pos="2926"/>
        <p:guide orient="horz" pos="2622"/>
        <p:guide orient="horz" pos="2150"/>
        <p:guide pos="5556"/>
        <p:guide pos="18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图片占位符 2"/>
          <p:cNvSpPr>
            <a:spLocks noGrp="1"/>
          </p:cNvSpPr>
          <p:nvPr>
            <p:ph type="pic" sz="quarter" idx="10"/>
          </p:nvPr>
        </p:nvSpPr>
        <p:spPr>
          <a:xfrm>
            <a:off x="145144" y="972459"/>
            <a:ext cx="2831539" cy="1749476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图片占位符 2"/>
          <p:cNvSpPr>
            <a:spLocks noGrp="1"/>
          </p:cNvSpPr>
          <p:nvPr>
            <p:ph type="pic" sz="quarter" idx="11"/>
          </p:nvPr>
        </p:nvSpPr>
        <p:spPr>
          <a:xfrm>
            <a:off x="3133929" y="972459"/>
            <a:ext cx="2831539" cy="1749476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图片占位符 2"/>
          <p:cNvSpPr>
            <a:spLocks noGrp="1"/>
          </p:cNvSpPr>
          <p:nvPr>
            <p:ph type="pic" sz="quarter" idx="12"/>
          </p:nvPr>
        </p:nvSpPr>
        <p:spPr>
          <a:xfrm>
            <a:off x="6122714" y="972459"/>
            <a:ext cx="2831539" cy="1749476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矩形: 圆角 2" descr="e7d195523061f1c09e9d68d7cf438b91ef959ecb14fc25d26BBA7F7DBC18E55DFF4014AF651F0BF2569D4B6C1DA7F1A4683A481403BD872FC687266AD13265C1DE7C373772FD8728ABDD69ADD03BFF5BE2862BC891DBB79E0D855F21651245329184AA4D6A56B8B32D29ECB149A5B58248D41A6BF52EFAE37B932C4CC1553899261C6510E604CF926F02B913E743C1A3"/>
          <p:cNvSpPr/>
          <p:nvPr userDrawn="1"/>
        </p:nvSpPr>
        <p:spPr>
          <a:xfrm>
            <a:off x="161132" y="984477"/>
            <a:ext cx="8821737" cy="3674609"/>
          </a:xfrm>
          <a:prstGeom prst="roundRect">
            <a:avLst>
              <a:gd name="adj" fmla="val 10146"/>
            </a:avLst>
          </a:prstGeom>
          <a:solidFill>
            <a:schemeClr val="bg1"/>
          </a:solidFill>
          <a:ln>
            <a:noFill/>
            <a:prstDash val="dash"/>
          </a:ln>
          <a:effectLst>
            <a:outerShdw blurRad="381000" dist="1016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图片占位符 2"/>
          <p:cNvSpPr>
            <a:spLocks noGrp="1"/>
          </p:cNvSpPr>
          <p:nvPr>
            <p:ph type="pic" sz="quarter" idx="10"/>
          </p:nvPr>
        </p:nvSpPr>
        <p:spPr>
          <a:xfrm>
            <a:off x="145144" y="972458"/>
            <a:ext cx="8824686" cy="21045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7D09B-D39A-4616-8388-15C7F50B95B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4C772-48CC-4874-8327-555D02B4446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7D09B-D39A-4616-8388-15C7F50B95B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4C772-48CC-4874-8327-555D02B4446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7D09B-D39A-4616-8388-15C7F50B95B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4C772-48CC-4874-8327-555D02B4446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7D09B-D39A-4616-8388-15C7F50B95B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4C772-48CC-4874-8327-555D02B4446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7D09B-D39A-4616-8388-15C7F50B95B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B4C772-48CC-4874-8327-555D02B4446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E7D09B-D39A-4616-8388-15C7F50B95B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B4C772-48CC-4874-8327-555D02B4446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9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4"/>
          <p:cNvGrpSpPr>
            <a:grpSpLocks noChangeAspect="1"/>
          </p:cNvGrpSpPr>
          <p:nvPr/>
        </p:nvGrpSpPr>
        <p:grpSpPr bwMode="auto">
          <a:xfrm rot="16200000">
            <a:off x="8184601" y="148325"/>
            <a:ext cx="615713" cy="805746"/>
            <a:chOff x="2759" y="1462"/>
            <a:chExt cx="243" cy="318"/>
          </a:xfrm>
        </p:grpSpPr>
        <p:sp>
          <p:nvSpPr>
            <p:cNvPr id="35" name="Oval 5"/>
            <p:cNvSpPr>
              <a:spLocks noChangeArrowheads="1"/>
            </p:cNvSpPr>
            <p:nvPr/>
          </p:nvSpPr>
          <p:spPr bwMode="auto">
            <a:xfrm>
              <a:off x="2759" y="1462"/>
              <a:ext cx="17" cy="17"/>
            </a:xfrm>
            <a:prstGeom prst="ellipse">
              <a:avLst/>
            </a:prstGeom>
            <a:solidFill>
              <a:srgbClr val="3438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Oval 6"/>
            <p:cNvSpPr>
              <a:spLocks noChangeArrowheads="1"/>
            </p:cNvSpPr>
            <p:nvPr/>
          </p:nvSpPr>
          <p:spPr bwMode="auto">
            <a:xfrm>
              <a:off x="2834" y="1462"/>
              <a:ext cx="17" cy="17"/>
            </a:xfrm>
            <a:prstGeom prst="ellipse">
              <a:avLst/>
            </a:prstGeom>
            <a:solidFill>
              <a:srgbClr val="3438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Oval 7"/>
            <p:cNvSpPr>
              <a:spLocks noChangeArrowheads="1"/>
            </p:cNvSpPr>
            <p:nvPr/>
          </p:nvSpPr>
          <p:spPr bwMode="auto">
            <a:xfrm>
              <a:off x="2909" y="1462"/>
              <a:ext cx="17" cy="17"/>
            </a:xfrm>
            <a:prstGeom prst="ellipse">
              <a:avLst/>
            </a:prstGeom>
            <a:solidFill>
              <a:srgbClr val="3438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Oval 8"/>
            <p:cNvSpPr>
              <a:spLocks noChangeArrowheads="1"/>
            </p:cNvSpPr>
            <p:nvPr/>
          </p:nvSpPr>
          <p:spPr bwMode="auto">
            <a:xfrm>
              <a:off x="2985" y="1462"/>
              <a:ext cx="17" cy="17"/>
            </a:xfrm>
            <a:prstGeom prst="ellipse">
              <a:avLst/>
            </a:prstGeom>
            <a:solidFill>
              <a:srgbClr val="3438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" name="Oval 9"/>
            <p:cNvSpPr>
              <a:spLocks noChangeArrowheads="1"/>
            </p:cNvSpPr>
            <p:nvPr/>
          </p:nvSpPr>
          <p:spPr bwMode="auto">
            <a:xfrm>
              <a:off x="2759" y="1538"/>
              <a:ext cx="17" cy="17"/>
            </a:xfrm>
            <a:prstGeom prst="ellipse">
              <a:avLst/>
            </a:prstGeom>
            <a:solidFill>
              <a:srgbClr val="3438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Oval 10"/>
            <p:cNvSpPr>
              <a:spLocks noChangeArrowheads="1"/>
            </p:cNvSpPr>
            <p:nvPr/>
          </p:nvSpPr>
          <p:spPr bwMode="auto">
            <a:xfrm>
              <a:off x="2834" y="1538"/>
              <a:ext cx="17" cy="17"/>
            </a:xfrm>
            <a:prstGeom prst="ellipse">
              <a:avLst/>
            </a:prstGeom>
            <a:solidFill>
              <a:srgbClr val="3438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" name="Oval 11"/>
            <p:cNvSpPr>
              <a:spLocks noChangeArrowheads="1"/>
            </p:cNvSpPr>
            <p:nvPr/>
          </p:nvSpPr>
          <p:spPr bwMode="auto">
            <a:xfrm>
              <a:off x="2909" y="1538"/>
              <a:ext cx="17" cy="17"/>
            </a:xfrm>
            <a:prstGeom prst="ellipse">
              <a:avLst/>
            </a:prstGeom>
            <a:solidFill>
              <a:srgbClr val="3438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Oval 12"/>
            <p:cNvSpPr>
              <a:spLocks noChangeArrowheads="1"/>
            </p:cNvSpPr>
            <p:nvPr/>
          </p:nvSpPr>
          <p:spPr bwMode="auto">
            <a:xfrm>
              <a:off x="2985" y="1538"/>
              <a:ext cx="17" cy="17"/>
            </a:xfrm>
            <a:prstGeom prst="ellipse">
              <a:avLst/>
            </a:prstGeom>
            <a:solidFill>
              <a:srgbClr val="3438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Oval 13"/>
            <p:cNvSpPr>
              <a:spLocks noChangeArrowheads="1"/>
            </p:cNvSpPr>
            <p:nvPr/>
          </p:nvSpPr>
          <p:spPr bwMode="auto">
            <a:xfrm>
              <a:off x="2759" y="1613"/>
              <a:ext cx="17" cy="17"/>
            </a:xfrm>
            <a:prstGeom prst="ellipse">
              <a:avLst/>
            </a:prstGeom>
            <a:solidFill>
              <a:srgbClr val="3438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4" name="Oval 14"/>
            <p:cNvSpPr>
              <a:spLocks noChangeArrowheads="1"/>
            </p:cNvSpPr>
            <p:nvPr/>
          </p:nvSpPr>
          <p:spPr bwMode="auto">
            <a:xfrm>
              <a:off x="2834" y="1613"/>
              <a:ext cx="17" cy="17"/>
            </a:xfrm>
            <a:prstGeom prst="ellipse">
              <a:avLst/>
            </a:prstGeom>
            <a:solidFill>
              <a:srgbClr val="3438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Oval 15"/>
            <p:cNvSpPr>
              <a:spLocks noChangeArrowheads="1"/>
            </p:cNvSpPr>
            <p:nvPr/>
          </p:nvSpPr>
          <p:spPr bwMode="auto">
            <a:xfrm>
              <a:off x="2909" y="1613"/>
              <a:ext cx="17" cy="17"/>
            </a:xfrm>
            <a:prstGeom prst="ellipse">
              <a:avLst/>
            </a:prstGeom>
            <a:solidFill>
              <a:srgbClr val="3438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Oval 16"/>
            <p:cNvSpPr>
              <a:spLocks noChangeArrowheads="1"/>
            </p:cNvSpPr>
            <p:nvPr/>
          </p:nvSpPr>
          <p:spPr bwMode="auto">
            <a:xfrm>
              <a:off x="2985" y="1613"/>
              <a:ext cx="17" cy="17"/>
            </a:xfrm>
            <a:prstGeom prst="ellipse">
              <a:avLst/>
            </a:prstGeom>
            <a:solidFill>
              <a:srgbClr val="3438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" name="Oval 17"/>
            <p:cNvSpPr>
              <a:spLocks noChangeArrowheads="1"/>
            </p:cNvSpPr>
            <p:nvPr/>
          </p:nvSpPr>
          <p:spPr bwMode="auto">
            <a:xfrm>
              <a:off x="2759" y="1688"/>
              <a:ext cx="17" cy="17"/>
            </a:xfrm>
            <a:prstGeom prst="ellipse">
              <a:avLst/>
            </a:prstGeom>
            <a:solidFill>
              <a:srgbClr val="3438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Oval 18"/>
            <p:cNvSpPr>
              <a:spLocks noChangeArrowheads="1"/>
            </p:cNvSpPr>
            <p:nvPr/>
          </p:nvSpPr>
          <p:spPr bwMode="auto">
            <a:xfrm>
              <a:off x="2834" y="1688"/>
              <a:ext cx="17" cy="17"/>
            </a:xfrm>
            <a:prstGeom prst="ellipse">
              <a:avLst/>
            </a:prstGeom>
            <a:solidFill>
              <a:srgbClr val="3438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Oval 19"/>
            <p:cNvSpPr>
              <a:spLocks noChangeArrowheads="1"/>
            </p:cNvSpPr>
            <p:nvPr/>
          </p:nvSpPr>
          <p:spPr bwMode="auto">
            <a:xfrm>
              <a:off x="2909" y="1688"/>
              <a:ext cx="17" cy="17"/>
            </a:xfrm>
            <a:prstGeom prst="ellipse">
              <a:avLst/>
            </a:prstGeom>
            <a:solidFill>
              <a:srgbClr val="3438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Oval 20"/>
            <p:cNvSpPr>
              <a:spLocks noChangeArrowheads="1"/>
            </p:cNvSpPr>
            <p:nvPr/>
          </p:nvSpPr>
          <p:spPr bwMode="auto">
            <a:xfrm>
              <a:off x="2985" y="1688"/>
              <a:ext cx="17" cy="17"/>
            </a:xfrm>
            <a:prstGeom prst="ellipse">
              <a:avLst/>
            </a:prstGeom>
            <a:solidFill>
              <a:srgbClr val="3438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Oval 21"/>
            <p:cNvSpPr>
              <a:spLocks noChangeArrowheads="1"/>
            </p:cNvSpPr>
            <p:nvPr/>
          </p:nvSpPr>
          <p:spPr bwMode="auto">
            <a:xfrm>
              <a:off x="2759" y="1763"/>
              <a:ext cx="17" cy="17"/>
            </a:xfrm>
            <a:prstGeom prst="ellipse">
              <a:avLst/>
            </a:prstGeom>
            <a:solidFill>
              <a:srgbClr val="3438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Oval 22"/>
            <p:cNvSpPr>
              <a:spLocks noChangeArrowheads="1"/>
            </p:cNvSpPr>
            <p:nvPr/>
          </p:nvSpPr>
          <p:spPr bwMode="auto">
            <a:xfrm>
              <a:off x="2834" y="1763"/>
              <a:ext cx="17" cy="17"/>
            </a:xfrm>
            <a:prstGeom prst="ellipse">
              <a:avLst/>
            </a:prstGeom>
            <a:solidFill>
              <a:srgbClr val="3438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Oval 23"/>
            <p:cNvSpPr>
              <a:spLocks noChangeArrowheads="1"/>
            </p:cNvSpPr>
            <p:nvPr/>
          </p:nvSpPr>
          <p:spPr bwMode="auto">
            <a:xfrm>
              <a:off x="2909" y="1763"/>
              <a:ext cx="17" cy="17"/>
            </a:xfrm>
            <a:prstGeom prst="ellipse">
              <a:avLst/>
            </a:prstGeom>
            <a:solidFill>
              <a:srgbClr val="3438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Oval 24"/>
            <p:cNvSpPr>
              <a:spLocks noChangeArrowheads="1"/>
            </p:cNvSpPr>
            <p:nvPr/>
          </p:nvSpPr>
          <p:spPr bwMode="auto">
            <a:xfrm>
              <a:off x="2985" y="1763"/>
              <a:ext cx="17" cy="17"/>
            </a:xfrm>
            <a:prstGeom prst="ellipse">
              <a:avLst/>
            </a:prstGeom>
            <a:solidFill>
              <a:srgbClr val="3438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55" name="矩形: 圆角 54"/>
          <p:cNvSpPr/>
          <p:nvPr/>
        </p:nvSpPr>
        <p:spPr>
          <a:xfrm>
            <a:off x="310515" y="3559175"/>
            <a:ext cx="2774315" cy="915035"/>
          </a:xfrm>
          <a:prstGeom prst="roundRect">
            <a:avLst>
              <a:gd name="adj" fmla="val 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2">
                    <a:lumMod val="7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50" b="1" i="0" u="none" strike="noStrike" kern="1200" cap="none" spc="0" normalizeH="0" baseline="0" noProof="0">
                <a:ln>
                  <a:noFill/>
                </a:ln>
                <a:solidFill>
                  <a:srgbClr val="FDFDFD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Group members</a:t>
            </a:r>
            <a:br>
              <a:rPr kumimoji="0" lang="en-US" altLang="zh-CN" sz="1050" b="1" i="0" u="none" strike="noStrike" kern="1200" cap="none" spc="0" normalizeH="0" baseline="0" noProof="0">
                <a:ln>
                  <a:noFill/>
                </a:ln>
                <a:solidFill>
                  <a:srgbClr val="FDFDFD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</a:br>
            <a:br>
              <a:rPr kumimoji="0" lang="en-US" altLang="zh-CN" sz="1050" b="1" i="0" u="none" strike="noStrike" kern="1200" cap="none" spc="0" normalizeH="0" baseline="0" noProof="0">
                <a:ln>
                  <a:noFill/>
                </a:ln>
                <a:solidFill>
                  <a:srgbClr val="FDFDFD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</a:br>
            <a:r>
              <a:rPr lang="en-US" altLang="zh-CN" sz="1050" b="1" noProof="0">
                <a:ln>
                  <a:noFill/>
                </a:ln>
                <a:solidFill>
                  <a:srgbClr val="FDFDFD"/>
                </a:solidFill>
                <a:effectLst/>
                <a:uLnTx/>
                <a:uFillTx/>
                <a:latin typeface="+mj-ea"/>
                <a:ea typeface="+mj-ea"/>
                <a:sym typeface="+mn-ea"/>
              </a:rPr>
              <a:t>Aoxue Li</a:t>
            </a:r>
            <a:br>
              <a:rPr kumimoji="0" lang="en-US" altLang="zh-CN" sz="1050" b="1" i="0" u="none" strike="noStrike" kern="1200" cap="none" spc="0" normalizeH="0" baseline="0" noProof="0">
                <a:ln>
                  <a:noFill/>
                </a:ln>
                <a:solidFill>
                  <a:srgbClr val="FDFDFD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</a:br>
            <a:r>
              <a:rPr kumimoji="0" lang="en-US" altLang="zh-CN" sz="1050" b="1" i="0" u="none" strike="noStrike" kern="1200" cap="none" spc="0" normalizeH="0" baseline="0" noProof="0">
                <a:ln>
                  <a:noFill/>
                </a:ln>
                <a:solidFill>
                  <a:srgbClr val="FDFDFD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Ezeme Onyenezi Innocent</a:t>
            </a:r>
            <a:br>
              <a:rPr kumimoji="0" lang="en-US" altLang="zh-CN" sz="1050" b="1" i="0" u="none" strike="noStrike" kern="1200" cap="none" spc="0" normalizeH="0" baseline="0" noProof="0">
                <a:ln>
                  <a:noFill/>
                </a:ln>
                <a:solidFill>
                  <a:srgbClr val="FDFDFD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</a:br>
            <a:r>
              <a:rPr lang="en-US" altLang="zh-CN" sz="1050" b="1" noProof="0">
                <a:ln>
                  <a:noFill/>
                </a:ln>
                <a:solidFill>
                  <a:srgbClr val="FDFDFD"/>
                </a:solidFill>
                <a:effectLst/>
                <a:uLnTx/>
                <a:uFillTx/>
                <a:latin typeface="+mj-ea"/>
                <a:ea typeface="+mj-ea"/>
                <a:sym typeface="+mn-ea"/>
              </a:rPr>
              <a:t>Zhi Zhou</a:t>
            </a:r>
            <a:endParaRPr kumimoji="0" lang="en-US" altLang="zh-CN" sz="1050" b="1" i="0" u="none" strike="noStrike" kern="1200" cap="none" spc="0" normalizeH="0" baseline="0" noProof="0">
              <a:ln>
                <a:noFill/>
              </a:ln>
              <a:solidFill>
                <a:srgbClr val="FDFDFD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432259" y="1304116"/>
            <a:ext cx="6311652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 panose="020B0502020202020204"/>
                <a:ea typeface="微软雅黑 Light" panose="020B0502040204020203" charset="-122"/>
                <a:cs typeface="+mn-cs"/>
              </a:rPr>
              <a:t>BOARD GAME</a:t>
            </a:r>
            <a:endParaRPr kumimoji="0" lang="en-US" altLang="zh-CN" sz="4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entury Gothic" panose="020B0502020202020204"/>
              <a:ea typeface="微软雅黑 Light" panose="020B0502040204020203" charset="-122"/>
              <a:cs typeface="+mn-cs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 panose="020B0502020202020204"/>
                <a:ea typeface="微软雅黑 Light" panose="020B0502040204020203" charset="-122"/>
                <a:cs typeface="+mn-cs"/>
              </a:rPr>
              <a:t>FINDER</a:t>
            </a:r>
            <a:endParaRPr kumimoji="0" lang="en-US" altLang="zh-CN" sz="4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entury Gothic" panose="020B0502020202020204"/>
              <a:ea typeface="微软雅黑 Light" panose="020B0502040204020203" charset="-122"/>
              <a:cs typeface="+mn-cs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 panose="020B0502020202020204"/>
                <a:ea typeface="微软雅黑 Light" panose="020B0502040204020203" charset="-122"/>
                <a:cs typeface="+mn-cs"/>
              </a:rPr>
              <a:t> </a:t>
            </a:r>
            <a:endParaRPr kumimoji="0" lang="en-US" altLang="zh-CN" sz="48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entury Gothic" panose="020B0502020202020204"/>
              <a:ea typeface="微软雅黑 Light" panose="020B0502040204020203" charset="-122"/>
              <a:cs typeface="+mn-cs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494183" y="2841048"/>
            <a:ext cx="4572000" cy="41402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1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微软雅黑" panose="020B0503020204020204" pitchFamily="34" charset="-122"/>
                <a:cs typeface="Arial" panose="020B0604020202090204" pitchFamily="34" charset="0"/>
                <a:sym typeface="Calibri" panose="020F0502020204030204" pitchFamily="34" charset="0"/>
              </a:rPr>
              <a:t>Find the game for tonight</a:t>
            </a:r>
            <a:endParaRPr kumimoji="0" lang="en-US" altLang="zh-CN" sz="1400" b="0" i="1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 Light" panose="020F0302020204030204"/>
              <a:ea typeface="微软雅黑" panose="020B0503020204020204" pitchFamily="34" charset="-122"/>
              <a:cs typeface="Arial" panose="020B0604020202090204" pitchFamily="34" charset="0"/>
              <a:sym typeface="Calibri" panose="020F0502020204030204" pitchFamily="34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8553450" y="4899660"/>
            <a:ext cx="266700" cy="106680"/>
            <a:chOff x="5717540" y="901700"/>
            <a:chExt cx="266700" cy="106680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5717540" y="901700"/>
              <a:ext cx="2667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/>
          </p:nvCxnSpPr>
          <p:spPr>
            <a:xfrm>
              <a:off x="5717540" y="955040"/>
              <a:ext cx="2667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/>
          </p:nvCxnSpPr>
          <p:spPr>
            <a:xfrm>
              <a:off x="5717540" y="1008380"/>
              <a:ext cx="2667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4"/>
          <p:cNvGrpSpPr>
            <a:grpSpLocks noChangeAspect="1"/>
          </p:cNvGrpSpPr>
          <p:nvPr/>
        </p:nvGrpSpPr>
        <p:grpSpPr bwMode="auto">
          <a:xfrm rot="16200000">
            <a:off x="8194126" y="136260"/>
            <a:ext cx="615713" cy="805746"/>
            <a:chOff x="2759" y="1462"/>
            <a:chExt cx="243" cy="318"/>
          </a:xfrm>
        </p:grpSpPr>
        <p:sp>
          <p:nvSpPr>
            <p:cNvPr id="35" name="Oval 5"/>
            <p:cNvSpPr>
              <a:spLocks noChangeArrowheads="1"/>
            </p:cNvSpPr>
            <p:nvPr/>
          </p:nvSpPr>
          <p:spPr bwMode="auto">
            <a:xfrm>
              <a:off x="2759" y="1462"/>
              <a:ext cx="17" cy="17"/>
            </a:xfrm>
            <a:prstGeom prst="ellipse">
              <a:avLst/>
            </a:prstGeom>
            <a:solidFill>
              <a:srgbClr val="3438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Oval 6"/>
            <p:cNvSpPr>
              <a:spLocks noChangeArrowheads="1"/>
            </p:cNvSpPr>
            <p:nvPr/>
          </p:nvSpPr>
          <p:spPr bwMode="auto">
            <a:xfrm>
              <a:off x="2834" y="1462"/>
              <a:ext cx="17" cy="17"/>
            </a:xfrm>
            <a:prstGeom prst="ellipse">
              <a:avLst/>
            </a:prstGeom>
            <a:solidFill>
              <a:srgbClr val="3438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Oval 7"/>
            <p:cNvSpPr>
              <a:spLocks noChangeArrowheads="1"/>
            </p:cNvSpPr>
            <p:nvPr/>
          </p:nvSpPr>
          <p:spPr bwMode="auto">
            <a:xfrm>
              <a:off x="2909" y="1462"/>
              <a:ext cx="17" cy="17"/>
            </a:xfrm>
            <a:prstGeom prst="ellipse">
              <a:avLst/>
            </a:prstGeom>
            <a:solidFill>
              <a:srgbClr val="3438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Oval 8"/>
            <p:cNvSpPr>
              <a:spLocks noChangeArrowheads="1"/>
            </p:cNvSpPr>
            <p:nvPr/>
          </p:nvSpPr>
          <p:spPr bwMode="auto">
            <a:xfrm>
              <a:off x="2985" y="1462"/>
              <a:ext cx="17" cy="17"/>
            </a:xfrm>
            <a:prstGeom prst="ellipse">
              <a:avLst/>
            </a:prstGeom>
            <a:solidFill>
              <a:srgbClr val="3438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" name="Oval 9"/>
            <p:cNvSpPr>
              <a:spLocks noChangeArrowheads="1"/>
            </p:cNvSpPr>
            <p:nvPr/>
          </p:nvSpPr>
          <p:spPr bwMode="auto">
            <a:xfrm>
              <a:off x="2759" y="1538"/>
              <a:ext cx="17" cy="17"/>
            </a:xfrm>
            <a:prstGeom prst="ellipse">
              <a:avLst/>
            </a:prstGeom>
            <a:solidFill>
              <a:srgbClr val="3438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Oval 10"/>
            <p:cNvSpPr>
              <a:spLocks noChangeArrowheads="1"/>
            </p:cNvSpPr>
            <p:nvPr/>
          </p:nvSpPr>
          <p:spPr bwMode="auto">
            <a:xfrm>
              <a:off x="2834" y="1538"/>
              <a:ext cx="17" cy="17"/>
            </a:xfrm>
            <a:prstGeom prst="ellipse">
              <a:avLst/>
            </a:prstGeom>
            <a:solidFill>
              <a:srgbClr val="3438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" name="Oval 11"/>
            <p:cNvSpPr>
              <a:spLocks noChangeArrowheads="1"/>
            </p:cNvSpPr>
            <p:nvPr/>
          </p:nvSpPr>
          <p:spPr bwMode="auto">
            <a:xfrm>
              <a:off x="2909" y="1538"/>
              <a:ext cx="17" cy="17"/>
            </a:xfrm>
            <a:prstGeom prst="ellipse">
              <a:avLst/>
            </a:prstGeom>
            <a:solidFill>
              <a:srgbClr val="3438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Oval 12"/>
            <p:cNvSpPr>
              <a:spLocks noChangeArrowheads="1"/>
            </p:cNvSpPr>
            <p:nvPr/>
          </p:nvSpPr>
          <p:spPr bwMode="auto">
            <a:xfrm>
              <a:off x="2985" y="1538"/>
              <a:ext cx="17" cy="17"/>
            </a:xfrm>
            <a:prstGeom prst="ellipse">
              <a:avLst/>
            </a:prstGeom>
            <a:solidFill>
              <a:srgbClr val="3438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Oval 13"/>
            <p:cNvSpPr>
              <a:spLocks noChangeArrowheads="1"/>
            </p:cNvSpPr>
            <p:nvPr/>
          </p:nvSpPr>
          <p:spPr bwMode="auto">
            <a:xfrm>
              <a:off x="2759" y="1613"/>
              <a:ext cx="17" cy="17"/>
            </a:xfrm>
            <a:prstGeom prst="ellipse">
              <a:avLst/>
            </a:prstGeom>
            <a:solidFill>
              <a:srgbClr val="3438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4" name="Oval 14"/>
            <p:cNvSpPr>
              <a:spLocks noChangeArrowheads="1"/>
            </p:cNvSpPr>
            <p:nvPr/>
          </p:nvSpPr>
          <p:spPr bwMode="auto">
            <a:xfrm>
              <a:off x="2834" y="1613"/>
              <a:ext cx="17" cy="17"/>
            </a:xfrm>
            <a:prstGeom prst="ellipse">
              <a:avLst/>
            </a:prstGeom>
            <a:solidFill>
              <a:srgbClr val="3438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Oval 15"/>
            <p:cNvSpPr>
              <a:spLocks noChangeArrowheads="1"/>
            </p:cNvSpPr>
            <p:nvPr/>
          </p:nvSpPr>
          <p:spPr bwMode="auto">
            <a:xfrm>
              <a:off x="2909" y="1613"/>
              <a:ext cx="17" cy="17"/>
            </a:xfrm>
            <a:prstGeom prst="ellipse">
              <a:avLst/>
            </a:prstGeom>
            <a:solidFill>
              <a:srgbClr val="3438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Oval 16"/>
            <p:cNvSpPr>
              <a:spLocks noChangeArrowheads="1"/>
            </p:cNvSpPr>
            <p:nvPr/>
          </p:nvSpPr>
          <p:spPr bwMode="auto">
            <a:xfrm>
              <a:off x="2985" y="1613"/>
              <a:ext cx="17" cy="17"/>
            </a:xfrm>
            <a:prstGeom prst="ellipse">
              <a:avLst/>
            </a:prstGeom>
            <a:solidFill>
              <a:srgbClr val="3438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" name="Oval 17"/>
            <p:cNvSpPr>
              <a:spLocks noChangeArrowheads="1"/>
            </p:cNvSpPr>
            <p:nvPr/>
          </p:nvSpPr>
          <p:spPr bwMode="auto">
            <a:xfrm>
              <a:off x="2759" y="1688"/>
              <a:ext cx="17" cy="17"/>
            </a:xfrm>
            <a:prstGeom prst="ellipse">
              <a:avLst/>
            </a:prstGeom>
            <a:solidFill>
              <a:srgbClr val="3438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Oval 18"/>
            <p:cNvSpPr>
              <a:spLocks noChangeArrowheads="1"/>
            </p:cNvSpPr>
            <p:nvPr/>
          </p:nvSpPr>
          <p:spPr bwMode="auto">
            <a:xfrm>
              <a:off x="2834" y="1688"/>
              <a:ext cx="17" cy="17"/>
            </a:xfrm>
            <a:prstGeom prst="ellipse">
              <a:avLst/>
            </a:prstGeom>
            <a:solidFill>
              <a:srgbClr val="3438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Oval 19"/>
            <p:cNvSpPr>
              <a:spLocks noChangeArrowheads="1"/>
            </p:cNvSpPr>
            <p:nvPr/>
          </p:nvSpPr>
          <p:spPr bwMode="auto">
            <a:xfrm>
              <a:off x="2909" y="1688"/>
              <a:ext cx="17" cy="17"/>
            </a:xfrm>
            <a:prstGeom prst="ellipse">
              <a:avLst/>
            </a:prstGeom>
            <a:solidFill>
              <a:srgbClr val="3438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Oval 20"/>
            <p:cNvSpPr>
              <a:spLocks noChangeArrowheads="1"/>
            </p:cNvSpPr>
            <p:nvPr/>
          </p:nvSpPr>
          <p:spPr bwMode="auto">
            <a:xfrm>
              <a:off x="2985" y="1688"/>
              <a:ext cx="17" cy="17"/>
            </a:xfrm>
            <a:prstGeom prst="ellipse">
              <a:avLst/>
            </a:prstGeom>
            <a:solidFill>
              <a:srgbClr val="3438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Oval 21"/>
            <p:cNvSpPr>
              <a:spLocks noChangeArrowheads="1"/>
            </p:cNvSpPr>
            <p:nvPr/>
          </p:nvSpPr>
          <p:spPr bwMode="auto">
            <a:xfrm>
              <a:off x="2759" y="1763"/>
              <a:ext cx="17" cy="17"/>
            </a:xfrm>
            <a:prstGeom prst="ellipse">
              <a:avLst/>
            </a:prstGeom>
            <a:solidFill>
              <a:srgbClr val="3438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Oval 22"/>
            <p:cNvSpPr>
              <a:spLocks noChangeArrowheads="1"/>
            </p:cNvSpPr>
            <p:nvPr/>
          </p:nvSpPr>
          <p:spPr bwMode="auto">
            <a:xfrm>
              <a:off x="2834" y="1763"/>
              <a:ext cx="17" cy="17"/>
            </a:xfrm>
            <a:prstGeom prst="ellipse">
              <a:avLst/>
            </a:prstGeom>
            <a:solidFill>
              <a:srgbClr val="3438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Oval 23"/>
            <p:cNvSpPr>
              <a:spLocks noChangeArrowheads="1"/>
            </p:cNvSpPr>
            <p:nvPr/>
          </p:nvSpPr>
          <p:spPr bwMode="auto">
            <a:xfrm>
              <a:off x="2909" y="1763"/>
              <a:ext cx="17" cy="17"/>
            </a:xfrm>
            <a:prstGeom prst="ellipse">
              <a:avLst/>
            </a:prstGeom>
            <a:solidFill>
              <a:srgbClr val="3438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Oval 24"/>
            <p:cNvSpPr>
              <a:spLocks noChangeArrowheads="1"/>
            </p:cNvSpPr>
            <p:nvPr/>
          </p:nvSpPr>
          <p:spPr bwMode="auto">
            <a:xfrm>
              <a:off x="2985" y="1763"/>
              <a:ext cx="17" cy="17"/>
            </a:xfrm>
            <a:prstGeom prst="ellipse">
              <a:avLst/>
            </a:prstGeom>
            <a:solidFill>
              <a:srgbClr val="3438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56" name="文本框 55"/>
          <p:cNvSpPr txBox="1"/>
          <p:nvPr/>
        </p:nvSpPr>
        <p:spPr>
          <a:xfrm>
            <a:off x="191770" y="1723390"/>
            <a:ext cx="622808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 panose="020B0502020202020204"/>
                <a:ea typeface="微软雅黑 Light" panose="020B0502040204020203" charset="-122"/>
                <a:cs typeface="+mn-cs"/>
              </a:rPr>
              <a:t>Turn winter nights</a:t>
            </a:r>
            <a:br>
              <a:rPr kumimoji="0" lang="en-US" altLang="zh-CN" sz="4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 panose="020B0502020202020204"/>
                <a:ea typeface="微软雅黑 Light" panose="020B0502040204020203" charset="-122"/>
                <a:cs typeface="+mn-cs"/>
              </a:rPr>
            </a:br>
            <a:r>
              <a:rPr kumimoji="0" lang="en-US" altLang="zh-CN" sz="4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 panose="020B0502020202020204"/>
                <a:ea typeface="微软雅黑 Light" panose="020B0502040204020203" charset="-122"/>
                <a:cs typeface="+mn-cs"/>
              </a:rPr>
              <a:t>into game nights</a:t>
            </a:r>
            <a:endParaRPr kumimoji="0" lang="en-US" altLang="zh-CN" sz="40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entury Gothic" panose="020B0502020202020204"/>
              <a:ea typeface="微软雅黑 Light" panose="020B0502040204020203" charset="-122"/>
              <a:cs typeface="+mn-cs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191770" y="3327400"/>
            <a:ext cx="8881110" cy="737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1" u="none" strike="noStrike" kern="1200" cap="none" spc="0" normalizeH="0" baseline="0" noProof="0">
                <a:ln>
                  <a:noFill/>
                </a:ln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effectLst/>
                <a:uLnTx/>
                <a:uFillTx/>
                <a:latin typeface="Calibri Light" panose="020F0302020204030204"/>
                <a:ea typeface="微软雅黑" panose="020B0503020204020204" pitchFamily="34" charset="-122"/>
                <a:cs typeface="Arial" panose="020B0604020202090204" pitchFamily="34" charset="0"/>
                <a:sym typeface="Calibri" panose="020F0502020204030204" pitchFamily="34" charset="0"/>
              </a:rPr>
              <a:t>We help people in Finland find the interesting board game for solo play or an evening with friends.</a:t>
            </a:r>
            <a:endParaRPr kumimoji="0" lang="en-US" altLang="zh-CN" sz="1400" b="1" i="1" u="none" strike="noStrike" kern="1200" cap="none" spc="0" normalizeH="0" baseline="0" noProof="0">
              <a:ln>
                <a:noFill/>
              </a:ln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effectLst/>
              <a:uLnTx/>
              <a:uFillTx/>
              <a:latin typeface="Calibri Light" panose="020F0302020204030204"/>
              <a:ea typeface="微软雅黑" panose="020B0503020204020204" pitchFamily="34" charset="-122"/>
              <a:cs typeface="Arial" panose="020B0604020202090204" pitchFamily="34" charset="0"/>
              <a:sym typeface="Calibri" panose="020F0502020204030204" pitchFamily="34" charset="0"/>
            </a:endParaRPr>
          </a:p>
          <a:p>
            <a:pPr marL="0" marR="0" lvl="0" indent="0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1" i="1" u="none" strike="noStrike" kern="1200" cap="none" spc="0" normalizeH="0" baseline="0" noProof="0">
              <a:ln>
                <a:noFill/>
              </a:ln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effectLst/>
              <a:uLnTx/>
              <a:uFillTx/>
              <a:latin typeface="Calibri Light" panose="020F0302020204030204"/>
              <a:ea typeface="微软雅黑" panose="020B0503020204020204" pitchFamily="34" charset="-122"/>
              <a:cs typeface="Arial" panose="020B0604020202090204" pitchFamily="34" charset="0"/>
              <a:sym typeface="Calibri" panose="020F050202020403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0" y="205740"/>
            <a:ext cx="3322320" cy="306705"/>
            <a:chOff x="-1337175" y="1302336"/>
            <a:chExt cx="3730424" cy="359283"/>
          </a:xfrm>
        </p:grpSpPr>
        <p:sp>
          <p:nvSpPr>
            <p:cNvPr id="2" name="矩形: 圆角 1"/>
            <p:cNvSpPr/>
            <p:nvPr/>
          </p:nvSpPr>
          <p:spPr>
            <a:xfrm>
              <a:off x="-1256606" y="1302336"/>
              <a:ext cx="3494421" cy="359283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-1337175" y="1302336"/>
              <a:ext cx="3730424" cy="3592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Century Gothic" panose="020B0502020202020204"/>
                  <a:ea typeface="微软雅黑 Light" panose="020B0502040204020203" charset="-122"/>
                  <a:cs typeface="+mn-cs"/>
                </a:rPr>
                <a:t>BOARD GAME FINDER/THE IDRA</a:t>
              </a:r>
              <a:endParaRPr kumimoji="0" lang="en-US" altLang="zh-CN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 panose="020B0502020202020204"/>
                <a:ea typeface="微软雅黑 Light" panose="020B0502040204020203" charset="-122"/>
                <a:cs typeface="+mn-cs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8553450" y="4899660"/>
            <a:ext cx="266700" cy="106680"/>
            <a:chOff x="5717540" y="901700"/>
            <a:chExt cx="266700" cy="106680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5717540" y="901700"/>
              <a:ext cx="2667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/>
          </p:nvCxnSpPr>
          <p:spPr>
            <a:xfrm>
              <a:off x="5717540" y="955040"/>
              <a:ext cx="2667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/>
          </p:nvCxnSpPr>
          <p:spPr>
            <a:xfrm>
              <a:off x="5717540" y="1008380"/>
              <a:ext cx="2667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" name="直接连接符 4"/>
          <p:cNvCxnSpPr/>
          <p:nvPr/>
        </p:nvCxnSpPr>
        <p:spPr>
          <a:xfrm flipH="1">
            <a:off x="6053514" y="2384307"/>
            <a:ext cx="2296633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>
            <a:spLocks noGrp="1"/>
          </p:cNvSpPr>
          <p:nvPr/>
        </p:nvSpPr>
        <p:spPr>
          <a:xfrm>
            <a:off x="0" y="0"/>
            <a:ext cx="3064213" cy="5143500"/>
          </a:xfrm>
          <a:prstGeom prst="rect">
            <a:avLst/>
          </a:prstGeom>
          <a:solidFill>
            <a:srgbClr val="F7AC8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Calibri Light" panose="020F0302020204030204"/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6" name="矩形: 圆角 5"/>
          <p:cNvSpPr>
            <a:spLocks noGrp="1"/>
          </p:cNvSpPr>
          <p:nvPr/>
        </p:nvSpPr>
        <p:spPr>
          <a:xfrm>
            <a:off x="281664" y="404583"/>
            <a:ext cx="4004941" cy="2069484"/>
          </a:xfrm>
          <a:prstGeom prst="roundRect">
            <a:avLst>
              <a:gd name="adj" fmla="val 10146"/>
            </a:avLst>
          </a:prstGeom>
          <a:solidFill>
            <a:schemeClr val="bg1"/>
          </a:solidFill>
          <a:ln>
            <a:noFill/>
            <a:prstDash val="dash"/>
          </a:ln>
          <a:effectLst>
            <a:outerShdw blurRad="381000" dist="1016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Calibri Light" panose="020F0302020204030204"/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08391" y="1360833"/>
            <a:ext cx="3576159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7E6E6">
                  <a:lumMod val="10000"/>
                </a:srgbClr>
              </a:buClr>
              <a:buSzTx/>
              <a:buFontTx/>
              <a:buNone/>
            </a:pPr>
            <a:r>
              <a:rPr sz="1200" b="0" i="1" u="none" strike="noStrike" cap="none" spc="0" baseline="0">
                <a:ln>
                  <a:noFill/>
                </a:ln>
                <a:latin typeface="Calibri Light" panose="020F0302020204030204"/>
                <a:ea typeface="Calibri Light" panose="020F0302020204030204"/>
                <a:cs typeface="Calibri Light" panose="020F0302020204030204"/>
              </a:rPr>
              <a:t>Alone or with friends, choosing what to play can take longer than the game itself.</a:t>
            </a:r>
            <a:endParaRPr sz="1200" b="0" i="1" u="none" strike="noStrike" kern="1200" cap="none" spc="0" baseline="0">
              <a:ln>
                <a:noFill/>
              </a:ln>
              <a:latin typeface="Calibri Light" panose="020F0302020204030204"/>
              <a:ea typeface="Calibri Light" panose="020F0302020204030204"/>
              <a:cs typeface="Calibri Light" panose="020F0302020204030204"/>
            </a:endParaRPr>
          </a:p>
          <a:p>
            <a:pPr marL="0" marR="0" lvl="0" indent="0" algn="l" defTabSz="6858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7E6E6">
                  <a:lumMod val="10000"/>
                </a:srgbClr>
              </a:buClr>
              <a:buSzTx/>
              <a:buFontTx/>
              <a:buNone/>
            </a:pPr>
            <a:endParaRPr sz="1200" b="0" i="1" u="none" strike="noStrike" kern="1200" cap="none" spc="0" baseline="0">
              <a:ln>
                <a:noFill/>
              </a:ln>
              <a:latin typeface="Calibri Light" panose="020F0302020204030204"/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8" name="文本框 7"/>
          <p:cNvSpPr>
            <a:spLocks noGrp="1"/>
          </p:cNvSpPr>
          <p:nvPr/>
        </p:nvSpPr>
        <p:spPr>
          <a:xfrm>
            <a:off x="289210" y="423891"/>
            <a:ext cx="131170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buNone/>
              <a:defRPr sz="3200" b="1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</a:defRPr>
            </a:lvl1pPr>
          </a:lstStyle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6000" b="1" i="0" u="none" strike="noStrike" cap="none" spc="0" baseline="0">
                <a:ln>
                  <a:noFill/>
                </a:ln>
                <a:solidFill>
                  <a:srgbClr val="262626">
                    <a:alpha val="10000"/>
                  </a:srgbClr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</a:rPr>
              <a:t>01</a:t>
            </a:r>
            <a:endParaRPr sz="6000" b="1" i="0" u="none" strike="noStrike" kern="1200" cap="none" spc="0" baseline="0">
              <a:ln>
                <a:noFill/>
              </a:ln>
              <a:solidFill>
                <a:srgbClr val="262626">
                  <a:alpha val="10000"/>
                </a:srgbClr>
              </a:solidFill>
              <a:latin typeface="Century Gothic" panose="020B0502020202020204"/>
              <a:ea typeface="Century Gothic" panose="020B0502020202020204"/>
              <a:cs typeface="Century Gothic" panose="020B0502020202020204"/>
            </a:endParaRPr>
          </a:p>
        </p:txBody>
      </p:sp>
      <p:sp>
        <p:nvSpPr>
          <p:cNvPr id="9" name="文本框 8"/>
          <p:cNvSpPr>
            <a:spLocks noGrp="1"/>
          </p:cNvSpPr>
          <p:nvPr/>
        </p:nvSpPr>
        <p:spPr>
          <a:xfrm>
            <a:off x="418465" y="977900"/>
            <a:ext cx="37465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buNone/>
              <a:defRPr sz="3200" b="1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</a:defRPr>
            </a:lvl1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</a:rPr>
              <a:t>Too many options. No clear pick</a:t>
            </a:r>
            <a:endParaRPr sz="1800" b="1" i="0" u="none" strike="noStrike" kern="1200" cap="none" spc="0" baseline="0">
              <a:ln>
                <a:noFill/>
              </a:ln>
              <a:solidFill>
                <a:schemeClr val="tx1"/>
              </a:solidFill>
              <a:latin typeface="Century Gothic" panose="020B0502020202020204"/>
              <a:ea typeface="Century Gothic" panose="020B0502020202020204"/>
              <a:cs typeface="Century Gothic" panose="020B0502020202020204"/>
            </a:endParaRPr>
          </a:p>
        </p:txBody>
      </p:sp>
      <p:sp>
        <p:nvSpPr>
          <p:cNvPr id="11" name="矩形: 圆角 10"/>
          <p:cNvSpPr>
            <a:spLocks noGrp="1"/>
          </p:cNvSpPr>
          <p:nvPr/>
        </p:nvSpPr>
        <p:spPr>
          <a:xfrm>
            <a:off x="252481" y="2797587"/>
            <a:ext cx="4004941" cy="2069484"/>
          </a:xfrm>
          <a:prstGeom prst="roundRect">
            <a:avLst>
              <a:gd name="adj" fmla="val 10146"/>
            </a:avLst>
          </a:prstGeom>
          <a:solidFill>
            <a:schemeClr val="bg1"/>
          </a:solidFill>
          <a:ln>
            <a:noFill/>
            <a:prstDash val="dash"/>
          </a:ln>
          <a:effectLst>
            <a:outerShdw blurRad="381000" dist="1016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Calibri Light" panose="020F0302020204030204"/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08391" y="3753837"/>
            <a:ext cx="3576159" cy="887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7E6E6">
                  <a:lumMod val="10000"/>
                </a:srgbClr>
              </a:buClr>
              <a:buSzTx/>
              <a:buFontTx/>
              <a:buNone/>
            </a:pPr>
            <a:r>
              <a:rPr sz="1200" b="0" i="1" u="none" strike="noStrike" cap="none" spc="0" baseline="0">
                <a:ln>
                  <a:noFill/>
                </a:ln>
                <a:latin typeface="Calibri Light" panose="020F0302020204030204"/>
                <a:ea typeface="Calibri Light" panose="020F0302020204030204"/>
                <a:cs typeface="Calibri Light" panose="020F0302020204030204"/>
              </a:rPr>
              <a:t>Choose players, time and complexity—or discover games similar to one you already love.</a:t>
            </a:r>
            <a:endParaRPr sz="1200" b="0" i="1" u="none" strike="noStrike" kern="1200" cap="none" spc="0" baseline="0">
              <a:ln>
                <a:noFill/>
              </a:ln>
              <a:latin typeface="Calibri Light" panose="020F0302020204030204"/>
              <a:ea typeface="Calibri Light" panose="020F0302020204030204"/>
              <a:cs typeface="Calibri Light" panose="020F0302020204030204"/>
            </a:endParaRPr>
          </a:p>
          <a:p>
            <a:pPr marL="0" marR="0" lvl="0" indent="0" algn="l" defTabSz="6858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7E6E6">
                  <a:lumMod val="10000"/>
                </a:srgbClr>
              </a:buClr>
              <a:buSzTx/>
              <a:buFontTx/>
              <a:buNone/>
            </a:pPr>
            <a:endParaRPr sz="1050" b="0" i="0" u="none" strike="noStrike" kern="1200" cap="none" spc="0" baseline="0">
              <a:ln>
                <a:noFill/>
              </a:ln>
              <a:latin typeface="Calibri Light" panose="020F0302020204030204"/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14" name="文本框 13"/>
          <p:cNvSpPr>
            <a:spLocks noGrp="1"/>
          </p:cNvSpPr>
          <p:nvPr/>
        </p:nvSpPr>
        <p:spPr>
          <a:xfrm>
            <a:off x="260027" y="2816895"/>
            <a:ext cx="131170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buNone/>
              <a:defRPr sz="3200" b="1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</a:defRPr>
            </a:lvl1pPr>
          </a:lstStyle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6000" b="1" i="0" u="none" strike="noStrike" cap="none" spc="0" baseline="0">
                <a:ln>
                  <a:noFill/>
                </a:ln>
                <a:solidFill>
                  <a:srgbClr val="262626">
                    <a:alpha val="10000"/>
                  </a:srgbClr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</a:rPr>
              <a:t>02</a:t>
            </a:r>
            <a:endParaRPr sz="6000" b="1" i="0" u="none" strike="noStrike" kern="1200" cap="none" spc="0" baseline="0">
              <a:ln>
                <a:noFill/>
              </a:ln>
              <a:solidFill>
                <a:srgbClr val="262626">
                  <a:alpha val="10000"/>
                </a:srgbClr>
              </a:solidFill>
              <a:latin typeface="Century Gothic" panose="020B0502020202020204"/>
              <a:ea typeface="Century Gothic" panose="020B0502020202020204"/>
              <a:cs typeface="Century Gothic" panose="020B0502020202020204"/>
            </a:endParaRPr>
          </a:p>
        </p:txBody>
      </p:sp>
      <p:sp>
        <p:nvSpPr>
          <p:cNvPr id="15" name="文本框 14"/>
          <p:cNvSpPr>
            <a:spLocks noGrp="1"/>
          </p:cNvSpPr>
          <p:nvPr/>
        </p:nvSpPr>
        <p:spPr>
          <a:xfrm>
            <a:off x="389269" y="3370952"/>
            <a:ext cx="3296958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buNone/>
              <a:defRPr sz="3200" b="1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</a:defRPr>
            </a:lvl1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1" i="0" u="none" strike="noStrike" cap="none" spc="0" baseline="0">
                <a:ln>
                  <a:noFill/>
                </a:ln>
                <a:solidFill>
                  <a:schemeClr val="tx1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</a:rPr>
              <a:t>A game that fits tonight</a:t>
            </a:r>
            <a:endParaRPr sz="1800" b="1" i="0" u="none" strike="noStrike" kern="1200" cap="none" spc="0" baseline="0">
              <a:ln>
                <a:noFill/>
              </a:ln>
              <a:solidFill>
                <a:schemeClr val="tx1"/>
              </a:solidFill>
              <a:latin typeface="Century Gothic" panose="020B0502020202020204"/>
              <a:ea typeface="Century Gothic" panose="020B0502020202020204"/>
              <a:cs typeface="Century Gothic" panose="020B0502020202020204"/>
            </a:endParaRPr>
          </a:p>
        </p:txBody>
      </p:sp>
      <p:sp>
        <p:nvSpPr>
          <p:cNvPr id="25" name="矩形: 圆角 24"/>
          <p:cNvSpPr>
            <a:spLocks noGrp="1"/>
          </p:cNvSpPr>
          <p:nvPr/>
        </p:nvSpPr>
        <p:spPr>
          <a:xfrm>
            <a:off x="4003751" y="1195765"/>
            <a:ext cx="492109" cy="487121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  <a:effectLst>
            <a:outerShdw blurRad="127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Calibri Light" panose="020F0302020204030204"/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26" name="Freeform 5"/>
          <p:cNvSpPr>
            <a:spLocks noGrp="1"/>
          </p:cNvSpPr>
          <p:nvPr/>
        </p:nvSpPr>
        <p:spPr>
          <a:xfrm>
            <a:off x="4173353" y="1310687"/>
            <a:ext cx="152904" cy="257278"/>
          </a:xfrm>
          <a:custGeom>
            <a:avLst/>
            <a:gdLst>
              <a:gd name="T0" fmla="*/ 350 w 358"/>
              <a:gd name="T1" fmla="*/ 321 h 605"/>
              <a:gd name="T2" fmla="*/ 351 w 358"/>
              <a:gd name="T3" fmla="*/ 318 h 605"/>
              <a:gd name="T4" fmla="*/ 343 w 358"/>
              <a:gd name="T5" fmla="*/ 275 h 605"/>
              <a:gd name="T6" fmla="*/ 67 w 358"/>
              <a:gd name="T7" fmla="*/ 14 h 605"/>
              <a:gd name="T8" fmla="*/ 14 w 358"/>
              <a:gd name="T9" fmla="*/ 16 h 605"/>
              <a:gd name="T10" fmla="*/ 16 w 358"/>
              <a:gd name="T11" fmla="*/ 69 h 605"/>
              <a:gd name="T12" fmla="*/ 264 w 358"/>
              <a:gd name="T13" fmla="*/ 303 h 605"/>
              <a:gd name="T14" fmla="*/ 17 w 358"/>
              <a:gd name="T15" fmla="*/ 541 h 605"/>
              <a:gd name="T16" fmla="*/ 16 w 358"/>
              <a:gd name="T17" fmla="*/ 594 h 605"/>
              <a:gd name="T18" fmla="*/ 43 w 358"/>
              <a:gd name="T19" fmla="*/ 605 h 605"/>
              <a:gd name="T20" fmla="*/ 69 w 358"/>
              <a:gd name="T21" fmla="*/ 595 h 605"/>
              <a:gd name="T22" fmla="*/ 342 w 358"/>
              <a:gd name="T23" fmla="*/ 331 h 605"/>
              <a:gd name="T24" fmla="*/ 344 w 358"/>
              <a:gd name="T25" fmla="*/ 329 h 605"/>
              <a:gd name="T26" fmla="*/ 345 w 358"/>
              <a:gd name="T27" fmla="*/ 328 h 605"/>
              <a:gd name="T28" fmla="*/ 350 w 358"/>
              <a:gd name="T29" fmla="*/ 321 h 605"/>
            </a:gdLst>
            <a:ahLst/>
            <a:cxnLst/>
            <a:rect l="0" t="0" r="r" b="b"/>
            <a:pathLst>
              <a:path w="358" h="605">
                <a:moveTo>
                  <a:pt x="350" y="321"/>
                </a:moveTo>
                <a:cubicBezTo>
                  <a:pt x="350" y="320"/>
                  <a:pt x="351" y="319"/>
                  <a:pt x="351" y="318"/>
                </a:cubicBezTo>
                <a:cubicBezTo>
                  <a:pt x="358" y="304"/>
                  <a:pt x="356" y="287"/>
                  <a:pt x="343" y="275"/>
                </a:cubicBezTo>
                <a:cubicBezTo>
                  <a:pt x="67" y="14"/>
                  <a:pt x="67" y="14"/>
                  <a:pt x="67" y="14"/>
                </a:cubicBezTo>
                <a:cubicBezTo>
                  <a:pt x="52" y="0"/>
                  <a:pt x="29" y="1"/>
                  <a:pt x="14" y="16"/>
                </a:cubicBezTo>
                <a:cubicBezTo>
                  <a:pt x="0" y="31"/>
                  <a:pt x="1" y="54"/>
                  <a:pt x="16" y="69"/>
                </a:cubicBezTo>
                <a:cubicBezTo>
                  <a:pt x="264" y="303"/>
                  <a:pt x="264" y="303"/>
                  <a:pt x="264" y="303"/>
                </a:cubicBezTo>
                <a:cubicBezTo>
                  <a:pt x="17" y="541"/>
                  <a:pt x="17" y="541"/>
                  <a:pt x="17" y="541"/>
                </a:cubicBezTo>
                <a:cubicBezTo>
                  <a:pt x="2" y="555"/>
                  <a:pt x="2" y="579"/>
                  <a:pt x="16" y="594"/>
                </a:cubicBezTo>
                <a:cubicBezTo>
                  <a:pt x="23" y="601"/>
                  <a:pt x="33" y="605"/>
                  <a:pt x="43" y="605"/>
                </a:cubicBezTo>
                <a:cubicBezTo>
                  <a:pt x="52" y="605"/>
                  <a:pt x="62" y="602"/>
                  <a:pt x="69" y="595"/>
                </a:cubicBezTo>
                <a:cubicBezTo>
                  <a:pt x="342" y="331"/>
                  <a:pt x="342" y="331"/>
                  <a:pt x="342" y="331"/>
                </a:cubicBezTo>
                <a:cubicBezTo>
                  <a:pt x="343" y="331"/>
                  <a:pt x="343" y="330"/>
                  <a:pt x="344" y="329"/>
                </a:cubicBezTo>
                <a:cubicBezTo>
                  <a:pt x="344" y="329"/>
                  <a:pt x="344" y="329"/>
                  <a:pt x="345" y="328"/>
                </a:cubicBezTo>
                <a:cubicBezTo>
                  <a:pt x="347" y="326"/>
                  <a:pt x="348" y="323"/>
                  <a:pt x="350" y="321"/>
                </a:cubicBezTo>
                <a:close/>
              </a:path>
            </a:pathLst>
          </a:custGeom>
          <a:solidFill>
            <a:schemeClr val="bg1"/>
          </a:solidFill>
          <a:ln w="19050">
            <a:solidFill>
              <a:srgbClr val="F7F7F7"/>
            </a:solidFill>
            <a:round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Calibri Light" panose="020F0302020204030204"/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28" name="矩形: 圆角 27"/>
          <p:cNvSpPr>
            <a:spLocks noGrp="1"/>
          </p:cNvSpPr>
          <p:nvPr/>
        </p:nvSpPr>
        <p:spPr>
          <a:xfrm>
            <a:off x="3995124" y="3588769"/>
            <a:ext cx="492109" cy="487121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  <a:effectLst>
            <a:outerShdw blurRad="127000" dist="1270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Calibri Light" panose="020F0302020204030204"/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29" name="Freeform 5"/>
          <p:cNvSpPr>
            <a:spLocks noGrp="1"/>
          </p:cNvSpPr>
          <p:nvPr/>
        </p:nvSpPr>
        <p:spPr>
          <a:xfrm>
            <a:off x="4164726" y="3703691"/>
            <a:ext cx="152904" cy="257278"/>
          </a:xfrm>
          <a:custGeom>
            <a:avLst/>
            <a:gdLst>
              <a:gd name="T0" fmla="*/ 350 w 358"/>
              <a:gd name="T1" fmla="*/ 321 h 605"/>
              <a:gd name="T2" fmla="*/ 351 w 358"/>
              <a:gd name="T3" fmla="*/ 318 h 605"/>
              <a:gd name="T4" fmla="*/ 343 w 358"/>
              <a:gd name="T5" fmla="*/ 275 h 605"/>
              <a:gd name="T6" fmla="*/ 67 w 358"/>
              <a:gd name="T7" fmla="*/ 14 h 605"/>
              <a:gd name="T8" fmla="*/ 14 w 358"/>
              <a:gd name="T9" fmla="*/ 16 h 605"/>
              <a:gd name="T10" fmla="*/ 16 w 358"/>
              <a:gd name="T11" fmla="*/ 69 h 605"/>
              <a:gd name="T12" fmla="*/ 264 w 358"/>
              <a:gd name="T13" fmla="*/ 303 h 605"/>
              <a:gd name="T14" fmla="*/ 17 w 358"/>
              <a:gd name="T15" fmla="*/ 541 h 605"/>
              <a:gd name="T16" fmla="*/ 16 w 358"/>
              <a:gd name="T17" fmla="*/ 594 h 605"/>
              <a:gd name="T18" fmla="*/ 43 w 358"/>
              <a:gd name="T19" fmla="*/ 605 h 605"/>
              <a:gd name="T20" fmla="*/ 69 w 358"/>
              <a:gd name="T21" fmla="*/ 595 h 605"/>
              <a:gd name="T22" fmla="*/ 342 w 358"/>
              <a:gd name="T23" fmla="*/ 331 h 605"/>
              <a:gd name="T24" fmla="*/ 344 w 358"/>
              <a:gd name="T25" fmla="*/ 329 h 605"/>
              <a:gd name="T26" fmla="*/ 345 w 358"/>
              <a:gd name="T27" fmla="*/ 328 h 605"/>
              <a:gd name="T28" fmla="*/ 350 w 358"/>
              <a:gd name="T29" fmla="*/ 321 h 605"/>
            </a:gdLst>
            <a:ahLst/>
            <a:cxnLst/>
            <a:rect l="0" t="0" r="r" b="b"/>
            <a:pathLst>
              <a:path w="358" h="605">
                <a:moveTo>
                  <a:pt x="350" y="321"/>
                </a:moveTo>
                <a:cubicBezTo>
                  <a:pt x="350" y="320"/>
                  <a:pt x="351" y="319"/>
                  <a:pt x="351" y="318"/>
                </a:cubicBezTo>
                <a:cubicBezTo>
                  <a:pt x="358" y="304"/>
                  <a:pt x="356" y="287"/>
                  <a:pt x="343" y="275"/>
                </a:cubicBezTo>
                <a:cubicBezTo>
                  <a:pt x="67" y="14"/>
                  <a:pt x="67" y="14"/>
                  <a:pt x="67" y="14"/>
                </a:cubicBezTo>
                <a:cubicBezTo>
                  <a:pt x="52" y="0"/>
                  <a:pt x="29" y="1"/>
                  <a:pt x="14" y="16"/>
                </a:cubicBezTo>
                <a:cubicBezTo>
                  <a:pt x="0" y="31"/>
                  <a:pt x="1" y="54"/>
                  <a:pt x="16" y="69"/>
                </a:cubicBezTo>
                <a:cubicBezTo>
                  <a:pt x="264" y="303"/>
                  <a:pt x="264" y="303"/>
                  <a:pt x="264" y="303"/>
                </a:cubicBezTo>
                <a:cubicBezTo>
                  <a:pt x="17" y="541"/>
                  <a:pt x="17" y="541"/>
                  <a:pt x="17" y="541"/>
                </a:cubicBezTo>
                <a:cubicBezTo>
                  <a:pt x="2" y="555"/>
                  <a:pt x="2" y="579"/>
                  <a:pt x="16" y="594"/>
                </a:cubicBezTo>
                <a:cubicBezTo>
                  <a:pt x="23" y="601"/>
                  <a:pt x="33" y="605"/>
                  <a:pt x="43" y="605"/>
                </a:cubicBezTo>
                <a:cubicBezTo>
                  <a:pt x="52" y="605"/>
                  <a:pt x="62" y="602"/>
                  <a:pt x="69" y="595"/>
                </a:cubicBezTo>
                <a:cubicBezTo>
                  <a:pt x="342" y="331"/>
                  <a:pt x="342" y="331"/>
                  <a:pt x="342" y="331"/>
                </a:cubicBezTo>
                <a:cubicBezTo>
                  <a:pt x="343" y="331"/>
                  <a:pt x="343" y="330"/>
                  <a:pt x="344" y="329"/>
                </a:cubicBezTo>
                <a:cubicBezTo>
                  <a:pt x="344" y="329"/>
                  <a:pt x="344" y="329"/>
                  <a:pt x="345" y="328"/>
                </a:cubicBezTo>
                <a:cubicBezTo>
                  <a:pt x="347" y="326"/>
                  <a:pt x="348" y="323"/>
                  <a:pt x="350" y="321"/>
                </a:cubicBezTo>
                <a:close/>
              </a:path>
            </a:pathLst>
          </a:custGeom>
          <a:solidFill>
            <a:schemeClr val="bg1"/>
          </a:solidFill>
          <a:ln w="19050">
            <a:solidFill>
              <a:srgbClr val="F7F7F7"/>
            </a:solidFill>
            <a:round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Calibri Light" panose="020F0302020204030204"/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30" name="Right headline"/>
          <p:cNvSpPr>
            <a:spLocks noGrp="1"/>
          </p:cNvSpPr>
          <p:nvPr/>
        </p:nvSpPr>
        <p:spPr>
          <a:xfrm>
            <a:off x="5038725" y="866775"/>
            <a:ext cx="38862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3450" b="1">
                <a:solidFill>
                  <a:srgbClr val="302A25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defPPr>
          </a:lstStyle>
          <a:p>
            <a:pPr>
              <a:defRPr sz="3450" b="1">
                <a:solidFill>
                  <a:srgbClr val="302A25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3450" b="1">
                <a:solidFill>
                  <a:srgbClr val="302A25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Game night</a:t>
            </a:r>
            <a:endParaRPr sz="3450" b="1">
              <a:solidFill>
                <a:srgbClr val="302A25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  <a:p>
            <a:pPr>
              <a:defRPr sz="3450" b="1">
                <a:solidFill>
                  <a:srgbClr val="302A25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3450" b="1">
                <a:solidFill>
                  <a:srgbClr val="302A25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starts here.</a:t>
            </a:r>
            <a:endParaRPr sz="3450" b="1">
              <a:solidFill>
                <a:srgbClr val="302A25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31" name="Invitation"/>
          <p:cNvSpPr>
            <a:spLocks noGrp="1"/>
          </p:cNvSpPr>
          <p:nvPr/>
        </p:nvSpPr>
        <p:spPr>
          <a:xfrm>
            <a:off x="5057775" y="1971675"/>
            <a:ext cx="3810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50" b="0">
                <a:solidFill>
                  <a:srgbClr val="765D4A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defPPr>
          </a:lstStyle>
          <a:p>
            <a:pPr>
              <a:defRPr sz="1350" b="0">
                <a:solidFill>
                  <a:srgbClr val="765D4A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1350" b="0">
                <a:solidFill>
                  <a:srgbClr val="765D4A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Find your game in a few quick choices.</a:t>
            </a:r>
            <a:endParaRPr sz="1350" b="0">
              <a:solidFill>
                <a:srgbClr val="765D4A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32" name="Website browser frame"/>
          <p:cNvSpPr>
            <a:spLocks noGrp="1"/>
          </p:cNvSpPr>
          <p:nvPr/>
        </p:nvSpPr>
        <p:spPr>
          <a:xfrm>
            <a:off x="5010150" y="2352675"/>
            <a:ext cx="3769360" cy="2498725"/>
          </a:xfrm>
          <a:prstGeom prst="roundRect">
            <a:avLst>
              <a:gd name="adj" fmla="val 4710"/>
            </a:avLst>
          </a:prstGeom>
          <a:solidFill>
            <a:srgbClr val="FFFDF8"/>
          </a:solidFill>
          <a:ln w="14288">
            <a:solidFill>
              <a:srgbClr val="DCC7B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3" name="Browser top bar"/>
          <p:cNvSpPr>
            <a:spLocks noGrp="1"/>
          </p:cNvSpPr>
          <p:nvPr/>
        </p:nvSpPr>
        <p:spPr>
          <a:xfrm>
            <a:off x="5029200" y="2371725"/>
            <a:ext cx="3848100" cy="276225"/>
          </a:xfrm>
          <a:prstGeom prst="rect">
            <a:avLst/>
          </a:prstGeom>
          <a:solidFill>
            <a:srgbClr val="F2E5D4"/>
          </a:solidFill>
          <a:ln w="0">
            <a:noFill/>
            <a:prstDash val="solid"/>
          </a:ln>
        </p:spPr>
      </p:sp>
      <p:sp>
        <p:nvSpPr>
          <p:cNvPr id="34" name="Browser dot 1"/>
          <p:cNvSpPr>
            <a:spLocks noGrp="1"/>
          </p:cNvSpPr>
          <p:nvPr/>
        </p:nvSpPr>
        <p:spPr>
          <a:xfrm>
            <a:off x="5143500" y="2476500"/>
            <a:ext cx="61913" cy="61913"/>
          </a:xfrm>
          <a:prstGeom prst="ellipse">
            <a:avLst/>
          </a:prstGeom>
          <a:solidFill>
            <a:srgbClr val="B56B48"/>
          </a:solidFill>
          <a:ln w="0">
            <a:noFill/>
            <a:prstDash val="solid"/>
          </a:ln>
        </p:spPr>
      </p:sp>
      <p:sp>
        <p:nvSpPr>
          <p:cNvPr id="35" name="Browser dot 2"/>
          <p:cNvSpPr>
            <a:spLocks noGrp="1"/>
          </p:cNvSpPr>
          <p:nvPr/>
        </p:nvSpPr>
        <p:spPr>
          <a:xfrm>
            <a:off x="5248275" y="2476500"/>
            <a:ext cx="61913" cy="61913"/>
          </a:xfrm>
          <a:prstGeom prst="ellipse">
            <a:avLst/>
          </a:prstGeom>
          <a:solidFill>
            <a:srgbClr val="D2A47F"/>
          </a:solidFill>
          <a:ln w="0">
            <a:noFill/>
            <a:prstDash val="solid"/>
          </a:ln>
        </p:spPr>
      </p:sp>
      <p:sp>
        <p:nvSpPr>
          <p:cNvPr id="36" name="Browser dot 3"/>
          <p:cNvSpPr>
            <a:spLocks noGrp="1"/>
          </p:cNvSpPr>
          <p:nvPr/>
        </p:nvSpPr>
        <p:spPr>
          <a:xfrm>
            <a:off x="5353050" y="2476500"/>
            <a:ext cx="61913" cy="61913"/>
          </a:xfrm>
          <a:prstGeom prst="ellipse">
            <a:avLst/>
          </a:prstGeom>
          <a:solidFill>
            <a:srgbClr val="E3CDB5"/>
          </a:solidFill>
          <a:ln w="0">
            <a:noFill/>
            <a:prstDash val="solid"/>
          </a:ln>
        </p:spPr>
      </p:sp>
      <p:sp>
        <p:nvSpPr>
          <p:cNvPr id="37" name="Website address"/>
          <p:cNvSpPr>
            <a:spLocks noGrp="1"/>
          </p:cNvSpPr>
          <p:nvPr/>
        </p:nvSpPr>
        <p:spPr>
          <a:xfrm>
            <a:off x="5581650" y="2428875"/>
            <a:ext cx="3190875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865" b="0">
                <a:solidFill>
                  <a:srgbClr val="80634E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defPPr>
          </a:lstStyle>
          <a:p>
            <a:pPr>
              <a:defRPr sz="865" b="0">
                <a:solidFill>
                  <a:srgbClr val="80634E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865" b="0">
                <a:solidFill>
                  <a:srgbClr val="80634E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bgg-mini-project.streamlit.app/find</a:t>
            </a:r>
            <a:endParaRPr sz="865" b="0">
              <a:solidFill>
                <a:srgbClr val="80634E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6916" y="2676525"/>
            <a:ext cx="3652668" cy="21621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弧形 64"/>
          <p:cNvSpPr/>
          <p:nvPr/>
        </p:nvSpPr>
        <p:spPr>
          <a:xfrm>
            <a:off x="1277621" y="1050039"/>
            <a:ext cx="2328530" cy="2328530"/>
          </a:xfrm>
          <a:prstGeom prst="arc">
            <a:avLst>
              <a:gd name="adj1" fmla="val 12880670"/>
              <a:gd name="adj2" fmla="val 19432399"/>
            </a:avLst>
          </a:prstGeom>
          <a:ln w="38100">
            <a:solidFill>
              <a:schemeClr val="accent2">
                <a:lumMod val="20000"/>
                <a:lumOff val="80000"/>
                <a:alpha val="48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弧形 65"/>
          <p:cNvSpPr/>
          <p:nvPr/>
        </p:nvSpPr>
        <p:spPr>
          <a:xfrm>
            <a:off x="4853646" y="1050039"/>
            <a:ext cx="2328530" cy="2328530"/>
          </a:xfrm>
          <a:prstGeom prst="arc">
            <a:avLst>
              <a:gd name="adj1" fmla="val 12880670"/>
              <a:gd name="adj2" fmla="val 19432399"/>
            </a:avLst>
          </a:prstGeom>
          <a:ln w="38100">
            <a:solidFill>
              <a:schemeClr val="accent2">
                <a:lumMod val="20000"/>
                <a:lumOff val="80000"/>
                <a:alpha val="48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矩形 81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/>
          <p:nvPr/>
        </p:nvSpPr>
        <p:spPr>
          <a:xfrm>
            <a:off x="191770" y="2491105"/>
            <a:ext cx="1932940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7E6E6">
                  <a:lumMod val="10000"/>
                </a:srgbClr>
              </a:buClr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微软雅黑" panose="020B0503020204020204" pitchFamily="34" charset="-122"/>
                <a:cs typeface="+mn-ea"/>
                <a:sym typeface="Calibri" panose="020F0502020204030204" pitchFamily="34" charset="0"/>
              </a:rPr>
              <a:t>Pick your player count, time and complexity.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 Light" panose="020F0302020204030204"/>
              <a:ea typeface="微软雅黑" panose="020B0503020204020204" pitchFamily="34" charset="-122"/>
              <a:cs typeface="+mn-ea"/>
              <a:sym typeface="Calibri" panose="020F0502020204030204" pitchFamily="34" charset="0"/>
            </a:endParaRPr>
          </a:p>
        </p:txBody>
      </p:sp>
      <p:sp>
        <p:nvSpPr>
          <p:cNvPr id="83" name="文本框 82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0" y="1706880"/>
            <a:ext cx="27432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  <a:ea typeface="+mj-e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 01 Match the moment</a:t>
            </a: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71755" y="205740"/>
            <a:ext cx="3862705" cy="306705"/>
            <a:chOff x="-1256606" y="1302336"/>
            <a:chExt cx="4337188" cy="359283"/>
          </a:xfrm>
        </p:grpSpPr>
        <p:sp>
          <p:nvSpPr>
            <p:cNvPr id="2" name="矩形: 圆角 1"/>
            <p:cNvSpPr/>
            <p:nvPr/>
          </p:nvSpPr>
          <p:spPr>
            <a:xfrm>
              <a:off x="-1256606" y="1302336"/>
              <a:ext cx="4337188" cy="359283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-1256606" y="1302336"/>
              <a:ext cx="4337188" cy="3592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Century Gothic" panose="020B0502020202020204"/>
                  <a:ea typeface="微软雅黑 Light" panose="020B0502040204020203" charset="-122"/>
                  <a:cs typeface="+mn-cs"/>
                </a:rPr>
                <a:t>BOARD GAME FINDER/YOUR NEXT </a:t>
              </a:r>
              <a:r>
                <a:rPr kumimoji="0" lang="en-US" altLang="zh-CN" sz="1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Century Gothic" panose="020B0502020202020204"/>
                  <a:ea typeface="微软雅黑 Light" panose="020B0502040204020203" charset="-122"/>
                  <a:cs typeface="+mn-cs"/>
                </a:rPr>
                <a:t>MOVE</a:t>
              </a:r>
              <a:endParaRPr kumimoji="0" lang="en-US" altLang="zh-CN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 panose="020B0502020202020204"/>
                <a:ea typeface="微软雅黑 Light" panose="020B0502040204020203" charset="-122"/>
                <a:cs typeface="+mn-cs"/>
              </a:endParaRPr>
            </a:p>
          </p:txBody>
        </p:sp>
      </p:grpSp>
      <p:sp>
        <p:nvSpPr>
          <p:cNvPr id="6" name="等腰三角形 5"/>
          <p:cNvSpPr/>
          <p:nvPr/>
        </p:nvSpPr>
        <p:spPr>
          <a:xfrm rot="5400000">
            <a:off x="828675" y="2108835"/>
            <a:ext cx="156845" cy="209550"/>
          </a:xfrm>
          <a:prstGeom prst="triangl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" name="直接连接符 6"/>
          <p:cNvCxnSpPr>
            <a:stCxn id="6" idx="0"/>
            <a:endCxn id="8" idx="3"/>
          </p:cNvCxnSpPr>
          <p:nvPr/>
        </p:nvCxnSpPr>
        <p:spPr>
          <a:xfrm>
            <a:off x="1012190" y="2214245"/>
            <a:ext cx="32283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等腰三角形 7"/>
          <p:cNvSpPr/>
          <p:nvPr/>
        </p:nvSpPr>
        <p:spPr>
          <a:xfrm rot="5400000">
            <a:off x="4266565" y="2108835"/>
            <a:ext cx="156845" cy="209550"/>
          </a:xfrm>
          <a:prstGeom prst="triangl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" name="直接连接符 8"/>
          <p:cNvCxnSpPr>
            <a:stCxn id="8" idx="0"/>
          </p:cNvCxnSpPr>
          <p:nvPr/>
        </p:nvCxnSpPr>
        <p:spPr>
          <a:xfrm>
            <a:off x="4450080" y="2213610"/>
            <a:ext cx="313626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等腰三角形 9"/>
          <p:cNvSpPr/>
          <p:nvPr/>
        </p:nvSpPr>
        <p:spPr>
          <a:xfrm rot="5400000">
            <a:off x="7612380" y="2108835"/>
            <a:ext cx="156845" cy="209550"/>
          </a:xfrm>
          <a:prstGeom prst="triangl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137535" y="1551940"/>
            <a:ext cx="33375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  <a:ea typeface="+mj-e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 02 Better picks. </a:t>
            </a:r>
            <a:b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</a:b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 Warmer nights.</a:t>
            </a: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文本框 11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6111875" y="1706880"/>
            <a:ext cx="27432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  <a:ea typeface="+mj-e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 03 Tonight </a:t>
            </a: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is game night </a:t>
            </a: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矩形 12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/>
          <p:nvPr/>
        </p:nvSpPr>
        <p:spPr>
          <a:xfrm>
            <a:off x="3374390" y="2491105"/>
            <a:ext cx="2672715" cy="1476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7E6E6">
                  <a:lumMod val="10000"/>
                </a:srgbClr>
              </a:buClr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微软雅黑" panose="020B0503020204020204" pitchFamily="34" charset="-122"/>
                <a:cs typeface="+mn-ea"/>
                <a:sym typeface="Calibri" panose="020F0502020204030204" pitchFamily="34" charset="0"/>
              </a:rPr>
              <a:t>Find clear matches among 2,077 BGG games, each with 100+ ratings.</a:t>
            </a:r>
            <a:b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微软雅黑" panose="020B0503020204020204" pitchFamily="34" charset="-122"/>
                <a:cs typeface="+mn-ea"/>
                <a:sym typeface="Calibri" panose="020F0502020204030204" pitchFamily="34" charset="0"/>
              </a:rPr>
            </a:b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微软雅黑" panose="020B0503020204020204" pitchFamily="34" charset="-122"/>
                <a:cs typeface="+mn-ea"/>
                <a:sym typeface="Calibri" panose="020F0502020204030204" pitchFamily="34" charset="0"/>
              </a:rPr>
              <a:t> </a:t>
            </a:r>
            <a:b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微软雅黑" panose="020B0503020204020204" pitchFamily="34" charset="-122"/>
                <a:cs typeface="+mn-ea"/>
                <a:sym typeface="Calibri" panose="020F0502020204030204" pitchFamily="34" charset="0"/>
              </a:rPr>
            </a:b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微软雅黑" panose="020B0503020204020204" pitchFamily="34" charset="-122"/>
                <a:cs typeface="+mn-ea"/>
                <a:sym typeface="Calibri" panose="020F0502020204030204" pitchFamily="34" charset="0"/>
              </a:rPr>
              <a:t>Our warm colours bring a little sunshine to winter evenings.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 Light" panose="020F0302020204030204"/>
              <a:ea typeface="微软雅黑" panose="020B0503020204020204" pitchFamily="34" charset="-122"/>
              <a:cs typeface="+mn-ea"/>
              <a:sym typeface="Calibri" panose="020F0502020204030204" pitchFamily="34" charset="0"/>
            </a:endParaRPr>
          </a:p>
        </p:txBody>
      </p:sp>
      <p:sp>
        <p:nvSpPr>
          <p:cNvPr id="16" name="矩形 15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/>
          <p:nvPr/>
        </p:nvSpPr>
        <p:spPr>
          <a:xfrm>
            <a:off x="6625590" y="2491105"/>
            <a:ext cx="2194560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7E6E6">
                  <a:lumMod val="10000"/>
                </a:srgbClr>
              </a:buClr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微软雅黑" panose="020B0503020204020204" pitchFamily="34" charset="-122"/>
                <a:cs typeface="+mn-ea"/>
                <a:sym typeface="Calibri" panose="020F0502020204030204" pitchFamily="34" charset="0"/>
              </a:rPr>
              <a:t>Winter is coming.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 Light" panose="020F0302020204030204"/>
              <a:ea typeface="微软雅黑" panose="020B0503020204020204" pitchFamily="34" charset="-122"/>
              <a:cs typeface="+mn-ea"/>
              <a:sym typeface="Calibri" panose="020F05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7E6E6">
                  <a:lumMod val="10000"/>
                </a:srgbClr>
              </a:buClr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微软雅黑" panose="020B0503020204020204" pitchFamily="34" charset="-122"/>
                <a:cs typeface="+mn-ea"/>
                <a:sym typeface="Calibri" panose="020F0502020204030204" pitchFamily="34" charset="0"/>
              </a:rPr>
              <a:t>Try our game finder now and discover what to play tonight.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 Light" panose="020F0302020204030204"/>
              <a:ea typeface="微软雅黑" panose="020B0503020204020204" pitchFamily="34" charset="-122"/>
              <a:cs typeface="+mn-ea"/>
              <a:sym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北欧4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000000"/>
      </a:accent1>
      <a:accent2>
        <a:srgbClr val="000000"/>
      </a:accent2>
      <a:accent3>
        <a:srgbClr val="000000"/>
      </a:accent3>
      <a:accent4>
        <a:srgbClr val="595959"/>
      </a:accent4>
      <a:accent5>
        <a:srgbClr val="5F5F5F"/>
      </a:accent5>
      <a:accent6>
        <a:srgbClr val="4D4D4D"/>
      </a:accent6>
      <a:hlink>
        <a:srgbClr val="000000"/>
      </a:hlink>
      <a:folHlink>
        <a:srgbClr val="919191"/>
      </a:folHlink>
    </a:clrScheme>
    <a:fontScheme name="标准5">
      <a:majorFont>
        <a:latin typeface="Century Gothic"/>
        <a:ea typeface="微软雅黑"/>
        <a:cs typeface=""/>
      </a:majorFont>
      <a:minorFont>
        <a:latin typeface="Calibri Light"/>
        <a:ea typeface="微软雅黑 Light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939</Words>
  <Application>WPS 演示</Application>
  <PresentationFormat>全屏显示(16:9)</PresentationFormat>
  <Paragraphs>51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8" baseType="lpstr">
      <vt:lpstr>Arial</vt:lpstr>
      <vt:lpstr>宋体</vt:lpstr>
      <vt:lpstr>Wingdings</vt:lpstr>
      <vt:lpstr>Century Gothic</vt:lpstr>
      <vt:lpstr>苹方-简</vt:lpstr>
      <vt:lpstr>微软雅黑 Light</vt:lpstr>
      <vt:lpstr>Calibri Light</vt:lpstr>
      <vt:lpstr>微软雅黑</vt:lpstr>
      <vt:lpstr>Calibri</vt:lpstr>
      <vt:lpstr>Helvetica Neue</vt:lpstr>
      <vt:lpstr>Century Gothic</vt:lpstr>
      <vt:lpstr>方正雅意黑 GB18030L2</vt:lpstr>
      <vt:lpstr>Gill Sans</vt:lpstr>
      <vt:lpstr>汉仪书宋二KW</vt:lpstr>
      <vt:lpstr>Microsoft YaHei UI</vt:lpstr>
      <vt:lpstr>Calibri Light</vt:lpstr>
      <vt:lpstr>宋体</vt:lpstr>
      <vt:lpstr>Arial Unicode MS</vt:lpstr>
      <vt:lpstr>汉仪中黑KW</vt:lpstr>
      <vt:lpstr>Microsoft YaHei UI</vt:lpstr>
      <vt:lpstr>微软雅黑</vt:lpstr>
      <vt:lpstr>微软雅黑 Light</vt:lpstr>
      <vt:lpstr>Avenir Next</vt:lpstr>
      <vt:lpstr>1_Office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哒哒 熊猫</dc:creator>
  <cp:lastModifiedBy>hhong</cp:lastModifiedBy>
  <cp:revision>157</cp:revision>
  <dcterms:created xsi:type="dcterms:W3CDTF">2026-10-13T12:51:41Z</dcterms:created>
  <dcterms:modified xsi:type="dcterms:W3CDTF">2026-10-13T12:51:41Z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2052-12.1.26055.26055</vt:lpwstr>
  </property>
  <property fmtid="{D5CDD505-2E9C-101B-9397-08002B2CF9AE}" pid="3" name="KSOTemplateUUID">
    <vt:lpwstr>v1.0_mb_kEC4ml/Upvu5XcLbLRNk8Q==</vt:lpwstr>
  </property>
  <property fmtid="{D5CDD505-2E9C-101B-9397-08002B2CF9AE}" pid="4" name="ICV">
    <vt:lpwstr>1624CFBAF79A4AF1E91ECE6A0AC2E609_43</vt:lpwstr>
  </property>
</Properties>
</file>